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B6B3A"/>
                </a:solidFill>
                <a:latin typeface="Arial"/>
              </a:defRPr>
            </a:pPr>
            <a:r>
              <a:rPr sz="1100" b="0" i="0" u="none" strike="noStrike">
                <a:solidFill>
                  <a:srgbClr val="1B6B3A"/>
                </a:solidFill>
                <a:latin typeface="Arial"/>
              </a:rPr>
              <a:t>Health Score Over Time</a:t>
            </a:r>
          </a:p>
        </c:rich>
      </c:tx>
      <c:layout/>
      <c:overlay val="0"/>
    </c:title>
    <c:autoTitleDeleted val="0"/>
    <c:plotArea>
      <c:layout/>
      <c:lineChart>
        <c:varyColors val="0"/>
        <c:ser>
          <c:idx val="0"/>
          <c:order val="0"/>
          <c:tx>
            <c:strRef>
              <c:f>Sheet1!$B$1</c:f>
              <c:strCache>
                <c:ptCount val="1"/>
                <c:pt idx="0">
                  <c:v>Health Score</c:v>
                </c:pt>
              </c:strCache>
            </c:strRef>
          </c:tx>
          <c:spPr>
            <a:solidFill>
              <a:srgbClr val="1B6B3A"/>
            </a:solidFill>
            <a:ln w="25400" cap="flat">
              <a:solidFill>
                <a:srgbClr val="1B6B3A"/>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dLblPos val="t"/>
            <c:showLegendKey val="0"/>
            <c:showVal val="1"/>
            <c:showCatName val="0"/>
            <c:showSerName val="0"/>
            <c:showPercent val="0"/>
            <c:showBubbleSize val="0"/>
            <c:showLeaderLines val="0"/>
          </c:dLbls>
          <c:marker>
            <c:symbol val="circle"/>
            <c:size val="6"/>
            <c:spPr>
              <a:solidFill>
                <a:srgbClr val="1B6B3A"/>
              </a:solidFill>
              <a:ln w="9525" cap="flat">
                <a:solidFill>
                  <a:srgbClr val="1B6B3A"/>
                </a:solidFill>
                <a:prstDash val="solid"/>
                <a:round/>
              </a:ln>
              <a:effectLst/>
            </c:spPr>
          </c:marker>
          <c:cat>
            <c:multiLvlStrRef>
              <c:f>Sheet1!$A$2:$A$5</c:f>
              <c:multiLvlStrCache>
                <c:ptCount val="4"/>
                <c:lvl>
                  <c:pt idx="0">
                    <c:v>Day 1</c:v>
                  </c:pt>
                  <c:pt idx="1">
                    <c:v>Day 2</c:v>
                  </c:pt>
                  <c:pt idx="2">
                    <c:v>Day 3</c:v>
                  </c:pt>
                  <c:pt idx="3">
                    <c:v>Day 4</c:v>
                  </c:pt>
                </c:lvl>
              </c:multiLvlStrCache>
            </c:multiLvlStrRef>
          </c:cat>
          <c:val>
            <c:numRef>
              <c:f>Sheet1!$B$2:$B$5</c:f>
              <c:numCache>
                <c:formatCode>General</c:formatCode>
                <c:ptCount val="4"/>
                <c:pt idx="0">
                  <c:v>20</c:v>
                </c:pt>
                <c:pt idx="1">
                  <c:v>42</c:v>
                </c:pt>
                <c:pt idx="2">
                  <c:v>66</c:v>
                </c:pt>
                <c:pt idx="3">
                  <c:v>88</c:v>
                </c:pt>
              </c:numCache>
            </c:numRef>
          </c:val>
          <c:smooth val="0"/>
        </c:ser>
        <c:dLbls>
          <c:numFmt formatCode="#,##0" sourceLinked="0"/>
          <c:txPr>
            <a:bodyPr/>
            <a:lstStyle/>
            <a:p>
              <a:pPr>
                <a:defRPr b="0" i="0" strike="noStrike" sz="900" u="none">
                  <a:solidFill>
                    <a:srgbClr val="000000"/>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C0392B"/>
                </a:solidFill>
                <a:latin typeface="Arial"/>
              </a:defRPr>
            </a:pPr>
            <a:r>
              <a:rPr sz="1100" b="0" i="0" u="none" strike="noStrike">
                <a:solidFill>
                  <a:srgbClr val="C0392B"/>
                </a:solidFill>
                <a:latin typeface="Arial"/>
              </a:rPr>
              <a:t>Symptom Severity (lower = better)</a:t>
            </a:r>
          </a:p>
        </c:rich>
      </c:tx>
      <c:layout/>
      <c:overlay val="0"/>
    </c:title>
    <c:autoTitleDeleted val="0"/>
    <c:plotArea>
      <c:layout/>
      <c:barChart>
        <c:barDir val="col"/>
        <c:grouping val="clustered"/>
        <c:varyColors val="0"/>
        <c:ser>
          <c:idx val="0"/>
          <c:order val="0"/>
          <c:tx>
            <c:strRef>
              <c:f>Sheet1!$B$1</c:f>
              <c:strCache>
                <c:ptCount val="1"/>
                <c:pt idx="0">
                  <c:v>Severity</c:v>
                </c:pt>
              </c:strCache>
            </c:strRef>
          </c:tx>
          <c:spPr>
            <a:solidFill>
              <a:srgbClr val="C0392B"/>
            </a:solidFill>
            <a:effectLst/>
          </c:spPr>
          <c:invertIfNegative val="0"/>
          <c:dLbls>
            <c:numFmt formatCode="#,##0" sourceLinked="0"/>
            <c:txPr>
              <a:bodyPr/>
              <a:lstStyle/>
              <a:p>
                <a:pPr>
                  <a:defRPr b="0" i="0" strike="noStrike" sz="900" u="none">
                    <a:solidFill>
                      <a:srgbClr val="000000"/>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Day 1</c:v>
                  </c:pt>
                  <c:pt idx="1">
                    <c:v>Day 2</c:v>
                  </c:pt>
                  <c:pt idx="2">
                    <c:v>Day 3</c:v>
                  </c:pt>
                  <c:pt idx="3">
                    <c:v>Day 4</c:v>
                  </c:pt>
                </c:lvl>
              </c:multiLvlStrCache>
            </c:multiLvlStrRef>
          </c:cat>
          <c:val>
            <c:numRef>
              <c:f>Sheet1!$B$2:$B$5</c:f>
              <c:numCache>
                <c:formatCode>General</c:formatCode>
                <c:ptCount val="4"/>
                <c:pt idx="0">
                  <c:v>8</c:v>
                </c:pt>
                <c:pt idx="1">
                  <c:v>6</c:v>
                </c:pt>
                <c:pt idx="2">
                  <c:v>4</c:v>
                </c:pt>
                <c:pt idx="3">
                  <c:v>2</c:v>
                </c:pt>
              </c:numCache>
            </c:numRef>
          </c:val>
        </c:ser>
        <c:dLbls>
          <c:numFmt formatCode="#,##0" sourceLinked="0"/>
          <c:txPr>
            <a:bodyPr/>
            <a:lstStyle/>
            <a:p>
              <a:pPr>
                <a:defRPr b="0" i="0" strike="noStrike" sz="900" u="none">
                  <a:solidFill>
                    <a:srgbClr val="000000"/>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name. Say: "This is an AI-powered multi-modal health companion system that combines Machine Learning, Deep Learning, Data Science, and Generative AI into a real-world healthcare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gap this project fills. Emphasize rural India context, lack of health literacy, and the need for an offline-capable multilingual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layer. Emphasize that all modules are connected through the Streamlit dashboard. ML and DL run locally — no internet needed for core AI functionality.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module briefly. For viva: be ready to explain the Random Forest choice (interpretable, handles class imbalance, fast inference), and why a CNN from scratch was chosen (demonstrates deep learning knowledge; pipeline swappable with pretrained MobileNet).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RED ZONE alert as the most visually impactful demo moment. The animated pulsing banner + ambulance button + hospital map shows real end-to-end emergency workflow. Mention OpenStreetMap works offline unlike Google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NLP layer: keyword/synonym matching converts natural text to a binary symptom vector. Then Random Forest (200 trees, balanced class weights) predicts both disease and risk. Accuracy validated on 20% hold-out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CNN is trained from scratch (not pretrained) on synthetic skin images — this demonstrates genuine DL knowledge. Validation accuracy 100% on held-out test set. For viva: "In production this pipeline can be swapped with HAM10000 or ISIC clinical images by pointing DATA_DIR at a class-labelled image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session history as a unique differentiator — most health apps are stateless. The chat uses a knowledge-base NLU that understands intent keywords (exercise, work, travel, diet) and responds with disease-aware, risk-adjusted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 assistant is the feature that sets this apart for rural India use cases. Uneducated users can interact entirely by speaking. All core AI runs offline — only the hospital map and external links need internet. This makes it usable in areas with poor 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real interactive Plotly charts in the live demo. The health score combines severity rating (60%) and CNN image class (40%). The follow-up decision uses a transparent rule engine — easy to explain in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justify technology choices: Random Forest for ML (interpretable, fast, handles imbalanced classes); TensorFlow/Keras for DL (industry standard, good documentation); Streamlit for UI (fastest way to demo an ML app); JSON for storage (simple, offline, no DB dependency for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system combines ML, DL, Data Science, and GenAI into a real, working multi-modal healthcare companion. It runs offline, supports 11 languages with voice, and is designed for rural India users who cannot type or read. It is for health awareness and monitoring only — not a medical diagnosis tool.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6B3A"/>
          </a:solidFill>
          <a:ln/>
        </p:spPr>
      </p:sp>
      <p:sp>
        <p:nvSpPr>
          <p:cNvPr id="3" name="Shape 1"/>
          <p:cNvSpPr/>
          <p:nvPr/>
        </p:nvSpPr>
        <p:spPr>
          <a:xfrm>
            <a:off x="0" y="0"/>
            <a:ext cx="3840480" cy="5143500"/>
          </a:xfrm>
          <a:prstGeom prst="rect">
            <a:avLst/>
          </a:prstGeom>
          <a:solidFill>
            <a:srgbClr val="1B6B3A"/>
          </a:solidFill>
          <a:ln/>
        </p:spPr>
      </p:sp>
      <p:sp>
        <p:nvSpPr>
          <p:cNvPr id="4" name="Shape 2"/>
          <p:cNvSpPr/>
          <p:nvPr/>
        </p:nvSpPr>
        <p:spPr>
          <a:xfrm>
            <a:off x="1280160" y="1463040"/>
            <a:ext cx="1280160" cy="274320"/>
          </a:xfrm>
          <a:prstGeom prst="rect">
            <a:avLst/>
          </a:prstGeom>
          <a:solidFill>
            <a:srgbClr val="FFFFFF"/>
          </a:solidFill>
          <a:ln w="12700">
            <a:solidFill>
              <a:srgbClr val="FFFFFF"/>
            </a:solidFill>
            <a:prstDash val="solid"/>
          </a:ln>
        </p:spPr>
      </p:sp>
      <p:sp>
        <p:nvSpPr>
          <p:cNvPr id="5" name="Shape 3"/>
          <p:cNvSpPr/>
          <p:nvPr/>
        </p:nvSpPr>
        <p:spPr>
          <a:xfrm>
            <a:off x="1737360" y="1005840"/>
            <a:ext cx="274320" cy="1188720"/>
          </a:xfrm>
          <a:prstGeom prst="rect">
            <a:avLst/>
          </a:prstGeom>
          <a:solidFill>
            <a:srgbClr val="FFFFFF"/>
          </a:solidFill>
          <a:ln w="12700">
            <a:solidFill>
              <a:srgbClr val="FFFFFF"/>
            </a:solidFill>
            <a:prstDash val="solid"/>
          </a:ln>
        </p:spPr>
      </p:sp>
      <p:sp>
        <p:nvSpPr>
          <p:cNvPr id="6" name="Text 4"/>
          <p:cNvSpPr/>
          <p:nvPr/>
        </p:nvSpPr>
        <p:spPr>
          <a:xfrm>
            <a:off x="4114800" y="1097280"/>
            <a:ext cx="4754880" cy="731520"/>
          </a:xfrm>
          <a:prstGeom prst="rect">
            <a:avLst/>
          </a:prstGeom>
          <a:noFill/>
          <a:ln/>
        </p:spPr>
        <p:txBody>
          <a:bodyPr wrap="square" lIns="0" tIns="0" rIns="0" bIns="0" rtlCol="0" anchor="ctr"/>
          <a:lstStyle/>
          <a:p>
            <a:pPr indent="0" marL="0">
              <a:buNone/>
            </a:pPr>
            <a:r>
              <a:rPr lang="en-US" sz="3400" b="1" dirty="0">
                <a:solidFill>
                  <a:srgbClr val="1A1A2E"/>
                </a:solidFill>
                <a:latin typeface="Calibri" pitchFamily="34" charset="0"/>
                <a:ea typeface="Calibri" pitchFamily="34" charset="-122"/>
                <a:cs typeface="Calibri" pitchFamily="34" charset="-120"/>
              </a:rPr>
              <a:t>AI Health Guardian</a:t>
            </a:r>
            <a:endParaRPr lang="en-US" sz="3400" dirty="0"/>
          </a:p>
        </p:txBody>
      </p:sp>
      <p:sp>
        <p:nvSpPr>
          <p:cNvPr id="7" name="Text 5"/>
          <p:cNvSpPr/>
          <p:nvPr/>
        </p:nvSpPr>
        <p:spPr>
          <a:xfrm>
            <a:off x="4114800" y="1874520"/>
            <a:ext cx="4754880" cy="731520"/>
          </a:xfrm>
          <a:prstGeom prst="rect">
            <a:avLst/>
          </a:prstGeom>
          <a:noFill/>
          <a:ln/>
        </p:spPr>
        <p:txBody>
          <a:bodyPr wrap="square" lIns="0" tIns="0" rIns="0" bIns="0" rtlCol="0" anchor="ctr"/>
          <a:lstStyle/>
          <a:p>
            <a:pPr indent="0" marL="0">
              <a:buNone/>
            </a:pPr>
            <a:r>
              <a:rPr lang="en-US" sz="1800" dirty="0">
                <a:solidFill>
                  <a:srgbClr val="2E8B57"/>
                </a:solidFill>
                <a:latin typeface="Calibri" pitchFamily="34" charset="0"/>
                <a:ea typeface="Calibri" pitchFamily="34" charset="-122"/>
                <a:cs typeface="Calibri" pitchFamily="34" charset="-120"/>
              </a:rPr>
              <a:t>Intelligent Symptom Tracking</a:t>
            </a:r>
            <a:endParaRPr lang="en-US" sz="1800" dirty="0"/>
          </a:p>
          <a:p>
            <a:pPr indent="0" marL="0">
              <a:buNone/>
            </a:pPr>
            <a:r>
              <a:rPr lang="en-US" sz="1800" dirty="0">
                <a:solidFill>
                  <a:srgbClr val="2E8B57"/>
                </a:solidFill>
                <a:latin typeface="Calibri" pitchFamily="34" charset="0"/>
                <a:ea typeface="Calibri" pitchFamily="34" charset="-122"/>
                <a:cs typeface="Calibri" pitchFamily="34" charset="-120"/>
              </a:rPr>
              <a:t>&amp; Recovery Assistant</a:t>
            </a:r>
            <a:endParaRPr lang="en-US" sz="1800" dirty="0"/>
          </a:p>
        </p:txBody>
      </p:sp>
      <p:sp>
        <p:nvSpPr>
          <p:cNvPr id="8" name="Text 6"/>
          <p:cNvSpPr/>
          <p:nvPr/>
        </p:nvSpPr>
        <p:spPr>
          <a:xfrm>
            <a:off x="4114800" y="2743200"/>
            <a:ext cx="4754880" cy="36576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Final Year Project  •  Multi-AI Healthcare System</a:t>
            </a:r>
            <a:endParaRPr lang="en-US" sz="1300" dirty="0"/>
          </a:p>
        </p:txBody>
      </p:sp>
      <p:sp>
        <p:nvSpPr>
          <p:cNvPr id="9" name="Text 7"/>
          <p:cNvSpPr/>
          <p:nvPr/>
        </p:nvSpPr>
        <p:spPr>
          <a:xfrm>
            <a:off x="4114800" y="3154680"/>
            <a:ext cx="4754880" cy="320040"/>
          </a:xfrm>
          <a:prstGeom prst="rect">
            <a:avLst/>
          </a:prstGeom>
          <a:noFill/>
          <a:ln/>
        </p:spPr>
        <p:txBody>
          <a:bodyPr wrap="square" lIns="0" tIns="0" rIns="0" bIns="0" rtlCol="0" anchor="ctr"/>
          <a:lstStyle/>
          <a:p>
            <a:pPr indent="0" marL="0">
              <a:buNone/>
            </a:pPr>
            <a:r>
              <a:rPr lang="en-US" sz="1300" b="1" dirty="0">
                <a:solidFill>
                  <a:srgbClr val="1B6B3A"/>
                </a:solidFill>
                <a:latin typeface="Calibri" pitchFamily="34" charset="0"/>
                <a:ea typeface="Calibri" pitchFamily="34" charset="-122"/>
                <a:cs typeface="Calibri" pitchFamily="34" charset="-120"/>
              </a:rPr>
              <a:t>ML  •  DL  •  Data Science  •  GenAI  •  NLP</a:t>
            </a:r>
            <a:endParaRPr lang="en-US" sz="1300" dirty="0"/>
          </a:p>
        </p:txBody>
      </p:sp>
      <p:sp>
        <p:nvSpPr>
          <p:cNvPr id="10" name="Text 8"/>
          <p:cNvSpPr/>
          <p:nvPr/>
        </p:nvSpPr>
        <p:spPr>
          <a:xfrm>
            <a:off x="4114800" y="4480560"/>
            <a:ext cx="475488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 For health awareness only — not a medical diagnosis tool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AF4"/>
          </a:solidFill>
          <a:ln/>
        </p:spPr>
      </p:sp>
      <p:sp>
        <p:nvSpPr>
          <p:cNvPr id="3" name="Text 1"/>
          <p:cNvSpPr/>
          <p:nvPr/>
        </p:nvSpPr>
        <p:spPr>
          <a:xfrm>
            <a:off x="365760" y="18288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Problem Statement</a:t>
            </a:r>
            <a:endParaRPr lang="en-US" sz="2800" dirty="0"/>
          </a:p>
        </p:txBody>
      </p:sp>
      <p:sp>
        <p:nvSpPr>
          <p:cNvPr id="4" name="Text 2"/>
          <p:cNvSpPr/>
          <p:nvPr/>
        </p:nvSpPr>
        <p:spPr>
          <a:xfrm>
            <a:off x="365760" y="640080"/>
            <a:ext cx="8412480" cy="32004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Why does this system need to exist?</a:t>
            </a:r>
            <a:endParaRPr lang="en-US" sz="1400" dirty="0"/>
          </a:p>
        </p:txBody>
      </p:sp>
      <p:sp>
        <p:nvSpPr>
          <p:cNvPr id="5" name="Shape 3"/>
          <p:cNvSpPr/>
          <p:nvPr/>
        </p:nvSpPr>
        <p:spPr>
          <a:xfrm>
            <a:off x="365760" y="1051560"/>
            <a:ext cx="4114800" cy="960120"/>
          </a:xfrm>
          <a:prstGeom prst="roundRect">
            <a:avLst>
              <a:gd name="adj" fmla="val 7619"/>
            </a:avLst>
          </a:prstGeom>
          <a:solidFill>
            <a:srgbClr val="FFFFFF"/>
          </a:solidFill>
          <a:ln w="15240">
            <a:solidFill>
              <a:srgbClr val="2E8B57"/>
            </a:solidFill>
            <a:prstDash val="solid"/>
          </a:ln>
        </p:spPr>
      </p:sp>
      <p:sp>
        <p:nvSpPr>
          <p:cNvPr id="6" name="Text 4"/>
          <p:cNvSpPr/>
          <p:nvPr/>
        </p:nvSpPr>
        <p:spPr>
          <a:xfrm>
            <a:off x="502920" y="1188720"/>
            <a:ext cx="54864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7" name="Text 5"/>
          <p:cNvSpPr/>
          <p:nvPr/>
        </p:nvSpPr>
        <p:spPr>
          <a:xfrm>
            <a:off x="1143000" y="1143000"/>
            <a:ext cx="3200400" cy="7772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Millions lack access to immediate medical guidance, especially in rural areas</a:t>
            </a:r>
            <a:endParaRPr lang="en-US" sz="1200" dirty="0"/>
          </a:p>
        </p:txBody>
      </p:sp>
      <p:sp>
        <p:nvSpPr>
          <p:cNvPr id="8" name="Shape 6"/>
          <p:cNvSpPr/>
          <p:nvPr/>
        </p:nvSpPr>
        <p:spPr>
          <a:xfrm>
            <a:off x="4663440" y="1051560"/>
            <a:ext cx="4114800" cy="960120"/>
          </a:xfrm>
          <a:prstGeom prst="roundRect">
            <a:avLst>
              <a:gd name="adj" fmla="val 7619"/>
            </a:avLst>
          </a:prstGeom>
          <a:solidFill>
            <a:srgbClr val="FFFFFF"/>
          </a:solidFill>
          <a:ln w="15240">
            <a:solidFill>
              <a:srgbClr val="2E8B57"/>
            </a:solidFill>
            <a:prstDash val="solid"/>
          </a:ln>
        </p:spPr>
      </p:sp>
      <p:sp>
        <p:nvSpPr>
          <p:cNvPr id="9" name="Text 7"/>
          <p:cNvSpPr/>
          <p:nvPr/>
        </p:nvSpPr>
        <p:spPr>
          <a:xfrm>
            <a:off x="4800600" y="1188720"/>
            <a:ext cx="54864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0" name="Text 8"/>
          <p:cNvSpPr/>
          <p:nvPr/>
        </p:nvSpPr>
        <p:spPr>
          <a:xfrm>
            <a:off x="5440680" y="1143000"/>
            <a:ext cx="3200400" cy="7772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Existing health apps require internet and English literacy</a:t>
            </a:r>
            <a:endParaRPr lang="en-US" sz="1200" dirty="0"/>
          </a:p>
        </p:txBody>
      </p:sp>
      <p:sp>
        <p:nvSpPr>
          <p:cNvPr id="11" name="Shape 9"/>
          <p:cNvSpPr/>
          <p:nvPr/>
        </p:nvSpPr>
        <p:spPr>
          <a:xfrm>
            <a:off x="365760" y="2148840"/>
            <a:ext cx="4114800" cy="960120"/>
          </a:xfrm>
          <a:prstGeom prst="roundRect">
            <a:avLst>
              <a:gd name="adj" fmla="val 7619"/>
            </a:avLst>
          </a:prstGeom>
          <a:solidFill>
            <a:srgbClr val="FFFFFF"/>
          </a:solidFill>
          <a:ln w="15240">
            <a:solidFill>
              <a:srgbClr val="2E8B57"/>
            </a:solidFill>
            <a:prstDash val="solid"/>
          </a:ln>
        </p:spPr>
      </p:sp>
      <p:sp>
        <p:nvSpPr>
          <p:cNvPr id="12" name="Text 10"/>
          <p:cNvSpPr/>
          <p:nvPr/>
        </p:nvSpPr>
        <p:spPr>
          <a:xfrm>
            <a:off x="502920" y="2286000"/>
            <a:ext cx="54864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3" name="Text 11"/>
          <p:cNvSpPr/>
          <p:nvPr/>
        </p:nvSpPr>
        <p:spPr>
          <a:xfrm>
            <a:off x="1143000" y="2240280"/>
            <a:ext cx="3200400" cy="7772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Patients cannot assess risk severity — they don't know when to rush to hospital</a:t>
            </a:r>
            <a:endParaRPr lang="en-US" sz="1200" dirty="0"/>
          </a:p>
        </p:txBody>
      </p:sp>
      <p:sp>
        <p:nvSpPr>
          <p:cNvPr id="14" name="Shape 12"/>
          <p:cNvSpPr/>
          <p:nvPr/>
        </p:nvSpPr>
        <p:spPr>
          <a:xfrm>
            <a:off x="4663440" y="2148840"/>
            <a:ext cx="4114800" cy="960120"/>
          </a:xfrm>
          <a:prstGeom prst="roundRect">
            <a:avLst>
              <a:gd name="adj" fmla="val 7619"/>
            </a:avLst>
          </a:prstGeom>
          <a:solidFill>
            <a:srgbClr val="FFFFFF"/>
          </a:solidFill>
          <a:ln w="15240">
            <a:solidFill>
              <a:srgbClr val="2E8B57"/>
            </a:solidFill>
            <a:prstDash val="solid"/>
          </a:ln>
        </p:spPr>
      </p:sp>
      <p:sp>
        <p:nvSpPr>
          <p:cNvPr id="15" name="Text 13"/>
          <p:cNvSpPr/>
          <p:nvPr/>
        </p:nvSpPr>
        <p:spPr>
          <a:xfrm>
            <a:off x="4800600" y="2286000"/>
            <a:ext cx="54864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6" name="Text 14"/>
          <p:cNvSpPr/>
          <p:nvPr/>
        </p:nvSpPr>
        <p:spPr>
          <a:xfrm>
            <a:off x="5440680" y="2240280"/>
            <a:ext cx="3200400" cy="7772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Medicine adherence is poor — no reminder system for uneducated users</a:t>
            </a:r>
            <a:endParaRPr lang="en-US" sz="1200" dirty="0"/>
          </a:p>
        </p:txBody>
      </p:sp>
      <p:sp>
        <p:nvSpPr>
          <p:cNvPr id="17" name="Shape 15"/>
          <p:cNvSpPr/>
          <p:nvPr/>
        </p:nvSpPr>
        <p:spPr>
          <a:xfrm>
            <a:off x="365760" y="3246120"/>
            <a:ext cx="4114800" cy="960120"/>
          </a:xfrm>
          <a:prstGeom prst="roundRect">
            <a:avLst>
              <a:gd name="adj" fmla="val 7619"/>
            </a:avLst>
          </a:prstGeom>
          <a:solidFill>
            <a:srgbClr val="FFFFFF"/>
          </a:solidFill>
          <a:ln w="15240">
            <a:solidFill>
              <a:srgbClr val="2E8B57"/>
            </a:solidFill>
            <a:prstDash val="solid"/>
          </a:ln>
        </p:spPr>
      </p:sp>
      <p:sp>
        <p:nvSpPr>
          <p:cNvPr id="18" name="Text 16"/>
          <p:cNvSpPr/>
          <p:nvPr/>
        </p:nvSpPr>
        <p:spPr>
          <a:xfrm>
            <a:off x="502920" y="3383280"/>
            <a:ext cx="54864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9" name="Text 17"/>
          <p:cNvSpPr/>
          <p:nvPr/>
        </p:nvSpPr>
        <p:spPr>
          <a:xfrm>
            <a:off x="1143000" y="3337560"/>
            <a:ext cx="3200400" cy="7772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No easy way to track visible symptom progression (e.g. skin rashes) day-by-day</a:t>
            </a:r>
            <a:endParaRPr lang="en-US" sz="1200" dirty="0"/>
          </a:p>
        </p:txBody>
      </p:sp>
      <p:sp>
        <p:nvSpPr>
          <p:cNvPr id="20" name="Shape 18"/>
          <p:cNvSpPr/>
          <p:nvPr/>
        </p:nvSpPr>
        <p:spPr>
          <a:xfrm>
            <a:off x="4663440" y="3246120"/>
            <a:ext cx="4114800" cy="960120"/>
          </a:xfrm>
          <a:prstGeom prst="roundRect">
            <a:avLst>
              <a:gd name="adj" fmla="val 7619"/>
            </a:avLst>
          </a:prstGeom>
          <a:solidFill>
            <a:srgbClr val="FFFFFF"/>
          </a:solidFill>
          <a:ln w="15240">
            <a:solidFill>
              <a:srgbClr val="2E8B57"/>
            </a:solidFill>
            <a:prstDash val="solid"/>
          </a:ln>
        </p:spPr>
      </p:sp>
      <p:sp>
        <p:nvSpPr>
          <p:cNvPr id="21" name="Text 19"/>
          <p:cNvSpPr/>
          <p:nvPr/>
        </p:nvSpPr>
        <p:spPr>
          <a:xfrm>
            <a:off x="4800600" y="3383280"/>
            <a:ext cx="548640" cy="54864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2" name="Text 20"/>
          <p:cNvSpPr/>
          <p:nvPr/>
        </p:nvSpPr>
        <p:spPr>
          <a:xfrm>
            <a:off x="5440680" y="3337560"/>
            <a:ext cx="3200400" cy="777240"/>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Uneducated users need voice-based assistance in their regional language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System Architecture</a:t>
            </a:r>
            <a:endParaRPr lang="en-US" sz="2800" dirty="0"/>
          </a:p>
        </p:txBody>
      </p:sp>
      <p:sp>
        <p:nvSpPr>
          <p:cNvPr id="4" name="Shape 2"/>
          <p:cNvSpPr/>
          <p:nvPr/>
        </p:nvSpPr>
        <p:spPr>
          <a:xfrm>
            <a:off x="274320" y="640080"/>
            <a:ext cx="8595360" cy="594360"/>
          </a:xfrm>
          <a:prstGeom prst="roundRect">
            <a:avLst>
              <a:gd name="adj" fmla="val 12308"/>
            </a:avLst>
          </a:prstGeom>
          <a:solidFill>
            <a:srgbClr val="E0F2FE"/>
          </a:solidFill>
          <a:ln w="15240">
            <a:solidFill>
              <a:srgbClr val="0F766E"/>
            </a:solidFill>
            <a:prstDash val="solid"/>
          </a:ln>
        </p:spPr>
      </p:sp>
      <p:sp>
        <p:nvSpPr>
          <p:cNvPr id="5" name="Text 3"/>
          <p:cNvSpPr/>
          <p:nvPr/>
        </p:nvSpPr>
        <p:spPr>
          <a:xfrm>
            <a:off x="457200" y="731520"/>
            <a:ext cx="8229600" cy="36576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INPUT LAYER   —   Text Symptoms  •  Photo Upload  •  Voice (any language)  •  Daily Log</a:t>
            </a:r>
            <a:endParaRPr lang="en-US" sz="1200" dirty="0"/>
          </a:p>
        </p:txBody>
      </p:sp>
      <p:sp>
        <p:nvSpPr>
          <p:cNvPr id="6" name="Shape 4"/>
          <p:cNvSpPr/>
          <p:nvPr/>
        </p:nvSpPr>
        <p:spPr>
          <a:xfrm>
            <a:off x="4434840" y="1234440"/>
            <a:ext cx="274320" cy="320040"/>
          </a:xfrm>
          <a:prstGeom prst="rect">
            <a:avLst/>
          </a:prstGeom>
          <a:solidFill>
            <a:srgbClr val="6B7280"/>
          </a:solidFill>
          <a:ln w="12700">
            <a:solidFill>
              <a:srgbClr val="6B7280"/>
            </a:solidFill>
            <a:prstDash val="solid"/>
          </a:ln>
        </p:spPr>
      </p:sp>
      <p:sp>
        <p:nvSpPr>
          <p:cNvPr id="7" name="Shape 5"/>
          <p:cNvSpPr/>
          <p:nvPr/>
        </p:nvSpPr>
        <p:spPr>
          <a:xfrm>
            <a:off x="274320" y="1554480"/>
            <a:ext cx="2743200" cy="914400"/>
          </a:xfrm>
          <a:prstGeom prst="roundRect">
            <a:avLst>
              <a:gd name="adj" fmla="val 8000"/>
            </a:avLst>
          </a:prstGeom>
          <a:solidFill>
            <a:srgbClr val="E8F5EE"/>
          </a:solidFill>
          <a:ln w="15240">
            <a:solidFill>
              <a:srgbClr val="1B6B3A"/>
            </a:solidFill>
            <a:prstDash val="solid"/>
          </a:ln>
        </p:spPr>
      </p:sp>
      <p:sp>
        <p:nvSpPr>
          <p:cNvPr id="8" name="Text 6"/>
          <p:cNvSpPr/>
          <p:nvPr/>
        </p:nvSpPr>
        <p:spPr>
          <a:xfrm>
            <a:off x="411480" y="1627632"/>
            <a:ext cx="2468880" cy="411480"/>
          </a:xfrm>
          <a:prstGeom prst="rect">
            <a:avLst/>
          </a:prstGeom>
          <a:noFill/>
          <a:ln/>
        </p:spPr>
        <p:txBody>
          <a:bodyPr wrap="square" lIns="0" tIns="0" rIns="0" bIns="0" rtlCol="0" anchor="ctr"/>
          <a:lstStyle/>
          <a:p>
            <a:pPr indent="0" marL="0">
              <a:buNone/>
            </a:pPr>
            <a:r>
              <a:rPr lang="en-US" sz="1200" b="1" dirty="0">
                <a:solidFill>
                  <a:srgbClr val="1B6B3A"/>
                </a:solidFill>
                <a:latin typeface="Calibri" pitchFamily="34" charset="0"/>
                <a:ea typeface="Calibri" pitchFamily="34" charset="-122"/>
                <a:cs typeface="Calibri" pitchFamily="34" charset="-120"/>
              </a:rPr>
              <a:t>Module 1</a:t>
            </a:r>
            <a:endParaRPr lang="en-US" sz="1200" dirty="0"/>
          </a:p>
          <a:p>
            <a:pPr indent="0" marL="0">
              <a:buNone/>
            </a:pPr>
            <a:r>
              <a:rPr lang="en-US" sz="1200" b="1" dirty="0">
                <a:solidFill>
                  <a:srgbClr val="1B6B3A"/>
                </a:solidFill>
                <a:latin typeface="Calibri" pitchFamily="34" charset="0"/>
                <a:ea typeface="Calibri" pitchFamily="34" charset="-122"/>
                <a:cs typeface="Calibri" pitchFamily="34" charset="-120"/>
              </a:rPr>
              <a:t>NLP + ML</a:t>
            </a:r>
            <a:endParaRPr lang="en-US" sz="1200" dirty="0"/>
          </a:p>
        </p:txBody>
      </p:sp>
      <p:sp>
        <p:nvSpPr>
          <p:cNvPr id="9" name="Text 7"/>
          <p:cNvSpPr/>
          <p:nvPr/>
        </p:nvSpPr>
        <p:spPr>
          <a:xfrm>
            <a:off x="411480" y="2011680"/>
            <a:ext cx="2468880" cy="32004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Symptom → Disease + Risk</a:t>
            </a:r>
            <a:endParaRPr lang="en-US" sz="1000" dirty="0"/>
          </a:p>
        </p:txBody>
      </p:sp>
      <p:sp>
        <p:nvSpPr>
          <p:cNvPr id="10" name="Shape 8"/>
          <p:cNvSpPr/>
          <p:nvPr/>
        </p:nvSpPr>
        <p:spPr>
          <a:xfrm>
            <a:off x="3200400" y="1554480"/>
            <a:ext cx="2743200" cy="914400"/>
          </a:xfrm>
          <a:prstGeom prst="roundRect">
            <a:avLst>
              <a:gd name="adj" fmla="val 8000"/>
            </a:avLst>
          </a:prstGeom>
          <a:solidFill>
            <a:srgbClr val="E0F2FE"/>
          </a:solidFill>
          <a:ln w="15240">
            <a:solidFill>
              <a:srgbClr val="0F766E"/>
            </a:solidFill>
            <a:prstDash val="solid"/>
          </a:ln>
        </p:spPr>
      </p:sp>
      <p:sp>
        <p:nvSpPr>
          <p:cNvPr id="11" name="Text 9"/>
          <p:cNvSpPr/>
          <p:nvPr/>
        </p:nvSpPr>
        <p:spPr>
          <a:xfrm>
            <a:off x="3337560" y="1627632"/>
            <a:ext cx="2468880" cy="41148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Module 2</a:t>
            </a:r>
            <a:endParaRPr lang="en-US" sz="1200" dirty="0"/>
          </a:p>
          <a:p>
            <a:pPr indent="0" marL="0">
              <a:buNone/>
            </a:pPr>
            <a:r>
              <a:rPr lang="en-US" sz="1200" b="1" dirty="0">
                <a:solidFill>
                  <a:srgbClr val="0F766E"/>
                </a:solidFill>
                <a:latin typeface="Calibri" pitchFamily="34" charset="0"/>
                <a:ea typeface="Calibri" pitchFamily="34" charset="-122"/>
                <a:cs typeface="Calibri" pitchFamily="34" charset="-120"/>
              </a:rPr>
              <a:t>Deep Learning</a:t>
            </a:r>
            <a:endParaRPr lang="en-US" sz="1200" dirty="0"/>
          </a:p>
        </p:txBody>
      </p:sp>
      <p:sp>
        <p:nvSpPr>
          <p:cNvPr id="12" name="Text 10"/>
          <p:cNvSpPr/>
          <p:nvPr/>
        </p:nvSpPr>
        <p:spPr>
          <a:xfrm>
            <a:off x="3337560" y="2011680"/>
            <a:ext cx="2468880" cy="32004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CNN Image Classifier</a:t>
            </a:r>
            <a:endParaRPr lang="en-US" sz="1000" dirty="0"/>
          </a:p>
        </p:txBody>
      </p:sp>
      <p:sp>
        <p:nvSpPr>
          <p:cNvPr id="13" name="Shape 11"/>
          <p:cNvSpPr/>
          <p:nvPr/>
        </p:nvSpPr>
        <p:spPr>
          <a:xfrm>
            <a:off x="6126480" y="1554480"/>
            <a:ext cx="2743200" cy="914400"/>
          </a:xfrm>
          <a:prstGeom prst="roundRect">
            <a:avLst>
              <a:gd name="adj" fmla="val 8000"/>
            </a:avLst>
          </a:prstGeom>
          <a:solidFill>
            <a:srgbClr val="EFF6FF"/>
          </a:solidFill>
          <a:ln w="15240">
            <a:solidFill>
              <a:srgbClr val="1D4ED8"/>
            </a:solidFill>
            <a:prstDash val="solid"/>
          </a:ln>
        </p:spPr>
      </p:sp>
      <p:sp>
        <p:nvSpPr>
          <p:cNvPr id="14" name="Text 12"/>
          <p:cNvSpPr/>
          <p:nvPr/>
        </p:nvSpPr>
        <p:spPr>
          <a:xfrm>
            <a:off x="6263640" y="1627632"/>
            <a:ext cx="2468880" cy="411480"/>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Module 7</a:t>
            </a:r>
            <a:endParaRPr lang="en-US" sz="1200" dirty="0"/>
          </a:p>
          <a:p>
            <a:pPr indent="0" marL="0">
              <a:buNone/>
            </a:pPr>
            <a:r>
              <a:rPr lang="en-US" sz="1200" b="1" dirty="0">
                <a:solidFill>
                  <a:srgbClr val="1D4ED8"/>
                </a:solidFill>
                <a:latin typeface="Calibri" pitchFamily="34" charset="0"/>
                <a:ea typeface="Calibri" pitchFamily="34" charset="-122"/>
                <a:cs typeface="Calibri" pitchFamily="34" charset="-120"/>
              </a:rPr>
              <a:t>Voice + Language</a:t>
            </a:r>
            <a:endParaRPr lang="en-US" sz="1200" dirty="0"/>
          </a:p>
        </p:txBody>
      </p:sp>
      <p:sp>
        <p:nvSpPr>
          <p:cNvPr id="15" name="Text 13"/>
          <p:cNvSpPr/>
          <p:nvPr/>
        </p:nvSpPr>
        <p:spPr>
          <a:xfrm>
            <a:off x="6263640" y="2011680"/>
            <a:ext cx="2468880" cy="32004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Speech I/O — 11 languages</a:t>
            </a:r>
            <a:endParaRPr lang="en-US" sz="1000" dirty="0"/>
          </a:p>
        </p:txBody>
      </p:sp>
      <p:sp>
        <p:nvSpPr>
          <p:cNvPr id="16" name="Shape 14"/>
          <p:cNvSpPr/>
          <p:nvPr/>
        </p:nvSpPr>
        <p:spPr>
          <a:xfrm>
            <a:off x="4434840" y="2468880"/>
            <a:ext cx="274320" cy="320040"/>
          </a:xfrm>
          <a:prstGeom prst="rect">
            <a:avLst/>
          </a:prstGeom>
          <a:solidFill>
            <a:srgbClr val="6B7280"/>
          </a:solidFill>
          <a:ln w="12700">
            <a:solidFill>
              <a:srgbClr val="6B7280"/>
            </a:solidFill>
            <a:prstDash val="solid"/>
          </a:ln>
        </p:spPr>
      </p:sp>
      <p:sp>
        <p:nvSpPr>
          <p:cNvPr id="17" name="Shape 15"/>
          <p:cNvSpPr/>
          <p:nvPr/>
        </p:nvSpPr>
        <p:spPr>
          <a:xfrm>
            <a:off x="274320" y="2788920"/>
            <a:ext cx="2011680" cy="777240"/>
          </a:xfrm>
          <a:prstGeom prst="roundRect">
            <a:avLst>
              <a:gd name="adj" fmla="val 9412"/>
            </a:avLst>
          </a:prstGeom>
          <a:solidFill>
            <a:srgbClr val="FEF2F2"/>
          </a:solidFill>
          <a:ln w="15240">
            <a:solidFill>
              <a:srgbClr val="C0392B"/>
            </a:solidFill>
            <a:prstDash val="solid"/>
          </a:ln>
        </p:spPr>
      </p:sp>
      <p:sp>
        <p:nvSpPr>
          <p:cNvPr id="18" name="Text 16"/>
          <p:cNvSpPr/>
          <p:nvPr/>
        </p:nvSpPr>
        <p:spPr>
          <a:xfrm>
            <a:off x="365760" y="2834640"/>
            <a:ext cx="1828800" cy="320040"/>
          </a:xfrm>
          <a:prstGeom prst="rect">
            <a:avLst/>
          </a:prstGeom>
          <a:noFill/>
          <a:ln/>
        </p:spPr>
        <p:txBody>
          <a:bodyPr wrap="square" lIns="0" tIns="0" rIns="0" bIns="0" rtlCol="0" anchor="ctr"/>
          <a:lstStyle/>
          <a:p>
            <a:pPr indent="0" marL="0">
              <a:buNone/>
            </a:pPr>
            <a:r>
              <a:rPr lang="en-US" sz="1000" b="1" dirty="0">
                <a:solidFill>
                  <a:srgbClr val="C0392B"/>
                </a:solidFill>
                <a:latin typeface="Calibri" pitchFamily="34" charset="0"/>
                <a:ea typeface="Calibri" pitchFamily="34" charset="-122"/>
                <a:cs typeface="Calibri" pitchFamily="34" charset="-120"/>
              </a:rPr>
              <a:t>🚨 Emergency Engine</a:t>
            </a:r>
            <a:endParaRPr lang="en-US" sz="1000" dirty="0"/>
          </a:p>
        </p:txBody>
      </p:sp>
      <p:sp>
        <p:nvSpPr>
          <p:cNvPr id="19" name="Text 17"/>
          <p:cNvSpPr/>
          <p:nvPr/>
        </p:nvSpPr>
        <p:spPr>
          <a:xfrm>
            <a:off x="365760" y="3127248"/>
            <a:ext cx="1828800"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Risk alert + Ambulance + Hospitals</a:t>
            </a:r>
            <a:endParaRPr lang="en-US" sz="900" dirty="0"/>
          </a:p>
        </p:txBody>
      </p:sp>
      <p:sp>
        <p:nvSpPr>
          <p:cNvPr id="20" name="Shape 18"/>
          <p:cNvSpPr/>
          <p:nvPr/>
        </p:nvSpPr>
        <p:spPr>
          <a:xfrm>
            <a:off x="2450592" y="2788920"/>
            <a:ext cx="2011680" cy="777240"/>
          </a:xfrm>
          <a:prstGeom prst="roundRect">
            <a:avLst>
              <a:gd name="adj" fmla="val 9412"/>
            </a:avLst>
          </a:prstGeom>
          <a:solidFill>
            <a:srgbClr val="F5F3FF"/>
          </a:solidFill>
          <a:ln w="15240">
            <a:solidFill>
              <a:srgbClr val="7C3AED"/>
            </a:solidFill>
            <a:prstDash val="solid"/>
          </a:ln>
        </p:spPr>
      </p:sp>
      <p:sp>
        <p:nvSpPr>
          <p:cNvPr id="21" name="Text 19"/>
          <p:cNvSpPr/>
          <p:nvPr/>
        </p:nvSpPr>
        <p:spPr>
          <a:xfrm>
            <a:off x="2542032" y="2834640"/>
            <a:ext cx="1828800" cy="320040"/>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 Chat AI</a:t>
            </a:r>
            <a:endParaRPr lang="en-US" sz="1000" dirty="0"/>
          </a:p>
        </p:txBody>
      </p:sp>
      <p:sp>
        <p:nvSpPr>
          <p:cNvPr id="22" name="Text 20"/>
          <p:cNvSpPr/>
          <p:nvPr/>
        </p:nvSpPr>
        <p:spPr>
          <a:xfrm>
            <a:off x="2542032" y="3127248"/>
            <a:ext cx="1828800"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Do's &amp; Don'ts, Q&amp;A</a:t>
            </a:r>
            <a:endParaRPr lang="en-US" sz="900" dirty="0"/>
          </a:p>
        </p:txBody>
      </p:sp>
      <p:sp>
        <p:nvSpPr>
          <p:cNvPr id="23" name="Shape 21"/>
          <p:cNvSpPr/>
          <p:nvPr/>
        </p:nvSpPr>
        <p:spPr>
          <a:xfrm>
            <a:off x="4626864" y="2788920"/>
            <a:ext cx="2011680" cy="777240"/>
          </a:xfrm>
          <a:prstGeom prst="roundRect">
            <a:avLst>
              <a:gd name="adj" fmla="val 9412"/>
            </a:avLst>
          </a:prstGeom>
          <a:solidFill>
            <a:srgbClr val="FFFBEB"/>
          </a:solidFill>
          <a:ln w="15240">
            <a:solidFill>
              <a:srgbClr val="D97706"/>
            </a:solidFill>
            <a:prstDash val="solid"/>
          </a:ln>
        </p:spPr>
      </p:sp>
      <p:sp>
        <p:nvSpPr>
          <p:cNvPr id="24" name="Text 22"/>
          <p:cNvSpPr/>
          <p:nvPr/>
        </p:nvSpPr>
        <p:spPr>
          <a:xfrm>
            <a:off x="4718304" y="2834640"/>
            <a:ext cx="1828800" cy="320040"/>
          </a:xfrm>
          <a:prstGeom prst="rect">
            <a:avLst/>
          </a:prstGeom>
          <a:noFill/>
          <a:ln/>
        </p:spPr>
        <p:txBody>
          <a:bodyPr wrap="square" lIns="0" tIns="0" rIns="0" bIns="0" rtlCol="0" anchor="ctr"/>
          <a:lstStyle/>
          <a:p>
            <a:pPr indent="0" marL="0">
              <a:buNone/>
            </a:pPr>
            <a:r>
              <a:rPr lang="en-US" sz="1000" b="1" dirty="0">
                <a:solidFill>
                  <a:srgbClr val="D97706"/>
                </a:solidFill>
                <a:latin typeface="Calibri" pitchFamily="34" charset="0"/>
                <a:ea typeface="Calibri" pitchFamily="34" charset="-122"/>
                <a:cs typeface="Calibri" pitchFamily="34" charset="-120"/>
              </a:rPr>
              <a:t>💊 Medicine Tracker</a:t>
            </a:r>
            <a:endParaRPr lang="en-US" sz="1000" dirty="0"/>
          </a:p>
        </p:txBody>
      </p:sp>
      <p:sp>
        <p:nvSpPr>
          <p:cNvPr id="25" name="Text 23"/>
          <p:cNvSpPr/>
          <p:nvPr/>
        </p:nvSpPr>
        <p:spPr>
          <a:xfrm>
            <a:off x="4718304" y="3127248"/>
            <a:ext cx="1828800"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Scan + Alarms + Diet</a:t>
            </a:r>
            <a:endParaRPr lang="en-US" sz="900" dirty="0"/>
          </a:p>
        </p:txBody>
      </p:sp>
      <p:sp>
        <p:nvSpPr>
          <p:cNvPr id="26" name="Shape 24"/>
          <p:cNvSpPr/>
          <p:nvPr/>
        </p:nvSpPr>
        <p:spPr>
          <a:xfrm>
            <a:off x="6803136" y="2788920"/>
            <a:ext cx="2011680" cy="777240"/>
          </a:xfrm>
          <a:prstGeom prst="roundRect">
            <a:avLst>
              <a:gd name="adj" fmla="val 9412"/>
            </a:avLst>
          </a:prstGeom>
          <a:solidFill>
            <a:srgbClr val="F0FDFA"/>
          </a:solidFill>
          <a:ln w="15240">
            <a:solidFill>
              <a:srgbClr val="0F766E"/>
            </a:solidFill>
            <a:prstDash val="solid"/>
          </a:ln>
        </p:spPr>
      </p:sp>
      <p:sp>
        <p:nvSpPr>
          <p:cNvPr id="27" name="Text 25"/>
          <p:cNvSpPr/>
          <p:nvPr/>
        </p:nvSpPr>
        <p:spPr>
          <a:xfrm>
            <a:off x="6894576" y="2834640"/>
            <a:ext cx="1828800" cy="320040"/>
          </a:xfrm>
          <a:prstGeom prst="rect">
            <a:avLst/>
          </a:prstGeom>
          <a:noFill/>
          <a:ln/>
        </p:spPr>
        <p:txBody>
          <a:bodyPr wrap="square" lIns="0" tIns="0" rIns="0" bIns="0" rtlCol="0" anchor="ctr"/>
          <a:lstStyle/>
          <a:p>
            <a:pPr indent="0" marL="0">
              <a:buNone/>
            </a:pPr>
            <a:r>
              <a:rPr lang="en-US" sz="1000" b="1" dirty="0">
                <a:solidFill>
                  <a:srgbClr val="0F766E"/>
                </a:solidFill>
                <a:latin typeface="Calibri" pitchFamily="34" charset="0"/>
                <a:ea typeface="Calibri" pitchFamily="34" charset="-122"/>
                <a:cs typeface="Calibri" pitchFamily="34" charset="-120"/>
              </a:rPr>
              <a:t>📊 Data Science</a:t>
            </a:r>
            <a:endParaRPr lang="en-US" sz="1000" dirty="0"/>
          </a:p>
        </p:txBody>
      </p:sp>
      <p:sp>
        <p:nvSpPr>
          <p:cNvPr id="28" name="Text 26"/>
          <p:cNvSpPr/>
          <p:nvPr/>
        </p:nvSpPr>
        <p:spPr>
          <a:xfrm>
            <a:off x="6894576" y="3127248"/>
            <a:ext cx="1828800" cy="32004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Health score + Trend</a:t>
            </a:r>
            <a:endParaRPr lang="en-US" sz="900" dirty="0"/>
          </a:p>
        </p:txBody>
      </p:sp>
      <p:sp>
        <p:nvSpPr>
          <p:cNvPr id="29" name="Shape 27"/>
          <p:cNvSpPr/>
          <p:nvPr/>
        </p:nvSpPr>
        <p:spPr>
          <a:xfrm>
            <a:off x="4434840" y="3566160"/>
            <a:ext cx="274320" cy="274320"/>
          </a:xfrm>
          <a:prstGeom prst="rect">
            <a:avLst/>
          </a:prstGeom>
          <a:solidFill>
            <a:srgbClr val="6B7280"/>
          </a:solidFill>
          <a:ln w="12700">
            <a:solidFill>
              <a:srgbClr val="6B7280"/>
            </a:solidFill>
            <a:prstDash val="solid"/>
          </a:ln>
        </p:spPr>
      </p:sp>
      <p:sp>
        <p:nvSpPr>
          <p:cNvPr id="30" name="Shape 28"/>
          <p:cNvSpPr/>
          <p:nvPr/>
        </p:nvSpPr>
        <p:spPr>
          <a:xfrm>
            <a:off x="274320" y="3840480"/>
            <a:ext cx="8595360" cy="594360"/>
          </a:xfrm>
          <a:prstGeom prst="roundRect">
            <a:avLst>
              <a:gd name="adj" fmla="val 12308"/>
            </a:avLst>
          </a:prstGeom>
          <a:solidFill>
            <a:srgbClr val="1B6B3A"/>
          </a:solidFill>
          <a:ln w="15240">
            <a:solidFill>
              <a:srgbClr val="1B6B3A"/>
            </a:solidFill>
            <a:prstDash val="solid"/>
          </a:ln>
        </p:spPr>
      </p:sp>
      <p:sp>
        <p:nvSpPr>
          <p:cNvPr id="31" name="Text 29"/>
          <p:cNvSpPr/>
          <p:nvPr/>
        </p:nvSpPr>
        <p:spPr>
          <a:xfrm>
            <a:off x="457200" y="3931920"/>
            <a:ext cx="82296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OUTPUT DASHBOARD  —  Risk Alert  •  Trend Graphs  •  Chat  •  Hospital Map  •  Session History  •  Medicine Alarms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AI Modules — Technical Breakdown</a:t>
            </a:r>
            <a:endParaRPr lang="en-US" sz="2800" dirty="0"/>
          </a:p>
        </p:txBody>
      </p:sp>
      <p:sp>
        <p:nvSpPr>
          <p:cNvPr id="4" name="Shape 2"/>
          <p:cNvSpPr/>
          <p:nvPr/>
        </p:nvSpPr>
        <p:spPr>
          <a:xfrm>
            <a:off x="228600" y="685800"/>
            <a:ext cx="640080" cy="420624"/>
          </a:xfrm>
          <a:prstGeom prst="rect">
            <a:avLst/>
          </a:prstGeom>
          <a:solidFill>
            <a:srgbClr val="1B6B3A"/>
          </a:solidFill>
          <a:ln w="12700">
            <a:solidFill>
              <a:srgbClr val="1B6B3A"/>
            </a:solidFill>
            <a:prstDash val="solid"/>
          </a:ln>
        </p:spPr>
      </p:sp>
      <p:sp>
        <p:nvSpPr>
          <p:cNvPr id="5" name="Text 3"/>
          <p:cNvSpPr/>
          <p:nvPr/>
        </p:nvSpPr>
        <p:spPr>
          <a:xfrm>
            <a:off x="274320" y="731520"/>
            <a:ext cx="548640"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Module</a:t>
            </a:r>
            <a:endParaRPr lang="en-US" sz="1000" dirty="0"/>
          </a:p>
        </p:txBody>
      </p:sp>
      <p:sp>
        <p:nvSpPr>
          <p:cNvPr id="6" name="Shape 4"/>
          <p:cNvSpPr/>
          <p:nvPr/>
        </p:nvSpPr>
        <p:spPr>
          <a:xfrm>
            <a:off x="868680" y="685800"/>
            <a:ext cx="1188720" cy="420624"/>
          </a:xfrm>
          <a:prstGeom prst="rect">
            <a:avLst/>
          </a:prstGeom>
          <a:solidFill>
            <a:srgbClr val="1B6B3A"/>
          </a:solidFill>
          <a:ln w="12700">
            <a:solidFill>
              <a:srgbClr val="1B6B3A"/>
            </a:solidFill>
            <a:prstDash val="solid"/>
          </a:ln>
        </p:spPr>
      </p:sp>
      <p:sp>
        <p:nvSpPr>
          <p:cNvPr id="7" name="Text 5"/>
          <p:cNvSpPr/>
          <p:nvPr/>
        </p:nvSpPr>
        <p:spPr>
          <a:xfrm>
            <a:off x="914400" y="731520"/>
            <a:ext cx="1097280"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Name</a:t>
            </a:r>
            <a:endParaRPr lang="en-US" sz="1000" dirty="0"/>
          </a:p>
        </p:txBody>
      </p:sp>
      <p:sp>
        <p:nvSpPr>
          <p:cNvPr id="8" name="Shape 6"/>
          <p:cNvSpPr/>
          <p:nvPr/>
        </p:nvSpPr>
        <p:spPr>
          <a:xfrm>
            <a:off x="2057400" y="685800"/>
            <a:ext cx="1645920" cy="420624"/>
          </a:xfrm>
          <a:prstGeom prst="rect">
            <a:avLst/>
          </a:prstGeom>
          <a:solidFill>
            <a:srgbClr val="1B6B3A"/>
          </a:solidFill>
          <a:ln w="12700">
            <a:solidFill>
              <a:srgbClr val="1B6B3A"/>
            </a:solidFill>
            <a:prstDash val="solid"/>
          </a:ln>
        </p:spPr>
      </p:sp>
      <p:sp>
        <p:nvSpPr>
          <p:cNvPr id="9" name="Text 7"/>
          <p:cNvSpPr/>
          <p:nvPr/>
        </p:nvSpPr>
        <p:spPr>
          <a:xfrm>
            <a:off x="2103120" y="731520"/>
            <a:ext cx="1554480"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AI Technique</a:t>
            </a:r>
            <a:endParaRPr lang="en-US" sz="1000" dirty="0"/>
          </a:p>
        </p:txBody>
      </p:sp>
      <p:sp>
        <p:nvSpPr>
          <p:cNvPr id="10" name="Shape 8"/>
          <p:cNvSpPr/>
          <p:nvPr/>
        </p:nvSpPr>
        <p:spPr>
          <a:xfrm>
            <a:off x="3703320" y="685800"/>
            <a:ext cx="3291840" cy="420624"/>
          </a:xfrm>
          <a:prstGeom prst="rect">
            <a:avLst/>
          </a:prstGeom>
          <a:solidFill>
            <a:srgbClr val="1B6B3A"/>
          </a:solidFill>
          <a:ln w="12700">
            <a:solidFill>
              <a:srgbClr val="1B6B3A"/>
            </a:solidFill>
            <a:prstDash val="solid"/>
          </a:ln>
        </p:spPr>
      </p:sp>
      <p:sp>
        <p:nvSpPr>
          <p:cNvPr id="11" name="Text 9"/>
          <p:cNvSpPr/>
          <p:nvPr/>
        </p:nvSpPr>
        <p:spPr>
          <a:xfrm>
            <a:off x="3749040" y="731520"/>
            <a:ext cx="3200400"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Key Feature</a:t>
            </a:r>
            <a:endParaRPr lang="en-US" sz="1000" dirty="0"/>
          </a:p>
        </p:txBody>
      </p:sp>
      <p:sp>
        <p:nvSpPr>
          <p:cNvPr id="12" name="Shape 10"/>
          <p:cNvSpPr/>
          <p:nvPr/>
        </p:nvSpPr>
        <p:spPr>
          <a:xfrm>
            <a:off x="6995160" y="685800"/>
            <a:ext cx="1554480" cy="420624"/>
          </a:xfrm>
          <a:prstGeom prst="rect">
            <a:avLst/>
          </a:prstGeom>
          <a:solidFill>
            <a:srgbClr val="1B6B3A"/>
          </a:solidFill>
          <a:ln w="12700">
            <a:solidFill>
              <a:srgbClr val="1B6B3A"/>
            </a:solidFill>
            <a:prstDash val="solid"/>
          </a:ln>
        </p:spPr>
      </p:sp>
      <p:sp>
        <p:nvSpPr>
          <p:cNvPr id="13" name="Text 11"/>
          <p:cNvSpPr/>
          <p:nvPr/>
        </p:nvSpPr>
        <p:spPr>
          <a:xfrm>
            <a:off x="7040880" y="731520"/>
            <a:ext cx="1463040" cy="329184"/>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Performance</a:t>
            </a:r>
            <a:endParaRPr lang="en-US" sz="1000" dirty="0"/>
          </a:p>
        </p:txBody>
      </p:sp>
      <p:sp>
        <p:nvSpPr>
          <p:cNvPr id="14" name="Shape 12"/>
          <p:cNvSpPr/>
          <p:nvPr/>
        </p:nvSpPr>
        <p:spPr>
          <a:xfrm>
            <a:off x="228600" y="1106424"/>
            <a:ext cx="640080" cy="420624"/>
          </a:xfrm>
          <a:prstGeom prst="rect">
            <a:avLst/>
          </a:prstGeom>
          <a:solidFill>
            <a:srgbClr val="E8F5EE"/>
          </a:solidFill>
          <a:ln w="6350">
            <a:solidFill>
              <a:srgbClr val="D1D5DB"/>
            </a:solidFill>
            <a:prstDash val="solid"/>
          </a:ln>
        </p:spPr>
      </p:sp>
      <p:sp>
        <p:nvSpPr>
          <p:cNvPr id="15" name="Text 13"/>
          <p:cNvSpPr/>
          <p:nvPr/>
        </p:nvSpPr>
        <p:spPr>
          <a:xfrm>
            <a:off x="274320" y="1143000"/>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1</a:t>
            </a:r>
            <a:endParaRPr lang="en-US" sz="900" dirty="0"/>
          </a:p>
        </p:txBody>
      </p:sp>
      <p:sp>
        <p:nvSpPr>
          <p:cNvPr id="16" name="Shape 14"/>
          <p:cNvSpPr/>
          <p:nvPr/>
        </p:nvSpPr>
        <p:spPr>
          <a:xfrm>
            <a:off x="868680" y="1106424"/>
            <a:ext cx="1188720" cy="420624"/>
          </a:xfrm>
          <a:prstGeom prst="rect">
            <a:avLst/>
          </a:prstGeom>
          <a:solidFill>
            <a:srgbClr val="E8F5EE"/>
          </a:solidFill>
          <a:ln w="6350">
            <a:solidFill>
              <a:srgbClr val="D1D5DB"/>
            </a:solidFill>
            <a:prstDash val="solid"/>
          </a:ln>
        </p:spPr>
      </p:sp>
      <p:sp>
        <p:nvSpPr>
          <p:cNvPr id="17" name="Text 15"/>
          <p:cNvSpPr/>
          <p:nvPr/>
        </p:nvSpPr>
        <p:spPr>
          <a:xfrm>
            <a:off x="914400" y="1143000"/>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Symptom Analyzer</a:t>
            </a:r>
            <a:endParaRPr lang="en-US" sz="900" dirty="0"/>
          </a:p>
        </p:txBody>
      </p:sp>
      <p:sp>
        <p:nvSpPr>
          <p:cNvPr id="18" name="Shape 16"/>
          <p:cNvSpPr/>
          <p:nvPr/>
        </p:nvSpPr>
        <p:spPr>
          <a:xfrm>
            <a:off x="2057400" y="1106424"/>
            <a:ext cx="1645920" cy="420624"/>
          </a:xfrm>
          <a:prstGeom prst="rect">
            <a:avLst/>
          </a:prstGeom>
          <a:solidFill>
            <a:srgbClr val="E8F5EE"/>
          </a:solidFill>
          <a:ln w="6350">
            <a:solidFill>
              <a:srgbClr val="D1D5DB"/>
            </a:solidFill>
            <a:prstDash val="solid"/>
          </a:ln>
        </p:spPr>
      </p:sp>
      <p:sp>
        <p:nvSpPr>
          <p:cNvPr id="19" name="Text 17"/>
          <p:cNvSpPr/>
          <p:nvPr/>
        </p:nvSpPr>
        <p:spPr>
          <a:xfrm>
            <a:off x="2103120" y="1143000"/>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NLP + Random Forest ML</a:t>
            </a:r>
            <a:endParaRPr lang="en-US" sz="900" dirty="0"/>
          </a:p>
        </p:txBody>
      </p:sp>
      <p:sp>
        <p:nvSpPr>
          <p:cNvPr id="20" name="Shape 18"/>
          <p:cNvSpPr/>
          <p:nvPr/>
        </p:nvSpPr>
        <p:spPr>
          <a:xfrm>
            <a:off x="3703320" y="1106424"/>
            <a:ext cx="3291840" cy="420624"/>
          </a:xfrm>
          <a:prstGeom prst="rect">
            <a:avLst/>
          </a:prstGeom>
          <a:solidFill>
            <a:srgbClr val="E8F5EE"/>
          </a:solidFill>
          <a:ln w="6350">
            <a:solidFill>
              <a:srgbClr val="D1D5DB"/>
            </a:solidFill>
            <a:prstDash val="solid"/>
          </a:ln>
        </p:spPr>
      </p:sp>
      <p:sp>
        <p:nvSpPr>
          <p:cNvPr id="21" name="Text 19"/>
          <p:cNvSpPr/>
          <p:nvPr/>
        </p:nvSpPr>
        <p:spPr>
          <a:xfrm>
            <a:off x="3749040" y="1143000"/>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68 symptoms → 21 diseases + Low/Medium/High risk</a:t>
            </a:r>
            <a:endParaRPr lang="en-US" sz="900" dirty="0"/>
          </a:p>
        </p:txBody>
      </p:sp>
      <p:sp>
        <p:nvSpPr>
          <p:cNvPr id="22" name="Shape 20"/>
          <p:cNvSpPr/>
          <p:nvPr/>
        </p:nvSpPr>
        <p:spPr>
          <a:xfrm>
            <a:off x="6995160" y="1106424"/>
            <a:ext cx="1554480" cy="420624"/>
          </a:xfrm>
          <a:prstGeom prst="rect">
            <a:avLst/>
          </a:prstGeom>
          <a:solidFill>
            <a:srgbClr val="E8F5EE"/>
          </a:solidFill>
          <a:ln w="6350">
            <a:solidFill>
              <a:srgbClr val="D1D5DB"/>
            </a:solidFill>
            <a:prstDash val="solid"/>
          </a:ln>
        </p:spPr>
      </p:sp>
      <p:sp>
        <p:nvSpPr>
          <p:cNvPr id="23" name="Text 21"/>
          <p:cNvSpPr/>
          <p:nvPr/>
        </p:nvSpPr>
        <p:spPr>
          <a:xfrm>
            <a:off x="7040880" y="1143000"/>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98.7% accuracy</a:t>
            </a:r>
            <a:endParaRPr lang="en-US" sz="900" dirty="0"/>
          </a:p>
        </p:txBody>
      </p:sp>
      <p:sp>
        <p:nvSpPr>
          <p:cNvPr id="24" name="Shape 22"/>
          <p:cNvSpPr/>
          <p:nvPr/>
        </p:nvSpPr>
        <p:spPr>
          <a:xfrm>
            <a:off x="228600" y="1527048"/>
            <a:ext cx="640080" cy="420624"/>
          </a:xfrm>
          <a:prstGeom prst="rect">
            <a:avLst/>
          </a:prstGeom>
          <a:solidFill>
            <a:srgbClr val="FFFFFF"/>
          </a:solidFill>
          <a:ln w="6350">
            <a:solidFill>
              <a:srgbClr val="D1D5DB"/>
            </a:solidFill>
            <a:prstDash val="solid"/>
          </a:ln>
        </p:spPr>
      </p:sp>
      <p:sp>
        <p:nvSpPr>
          <p:cNvPr id="25" name="Text 23"/>
          <p:cNvSpPr/>
          <p:nvPr/>
        </p:nvSpPr>
        <p:spPr>
          <a:xfrm>
            <a:off x="274320" y="1563624"/>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2</a:t>
            </a:r>
            <a:endParaRPr lang="en-US" sz="900" dirty="0"/>
          </a:p>
        </p:txBody>
      </p:sp>
      <p:sp>
        <p:nvSpPr>
          <p:cNvPr id="26" name="Shape 24"/>
          <p:cNvSpPr/>
          <p:nvPr/>
        </p:nvSpPr>
        <p:spPr>
          <a:xfrm>
            <a:off x="868680" y="1527048"/>
            <a:ext cx="1188720" cy="420624"/>
          </a:xfrm>
          <a:prstGeom prst="rect">
            <a:avLst/>
          </a:prstGeom>
          <a:solidFill>
            <a:srgbClr val="FFFFFF"/>
          </a:solidFill>
          <a:ln w="6350">
            <a:solidFill>
              <a:srgbClr val="D1D5DB"/>
            </a:solidFill>
            <a:prstDash val="solid"/>
          </a:ln>
        </p:spPr>
      </p:sp>
      <p:sp>
        <p:nvSpPr>
          <p:cNvPr id="27" name="Text 25"/>
          <p:cNvSpPr/>
          <p:nvPr/>
        </p:nvSpPr>
        <p:spPr>
          <a:xfrm>
            <a:off x="914400" y="1563624"/>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Image Analysis</a:t>
            </a:r>
            <a:endParaRPr lang="en-US" sz="900" dirty="0"/>
          </a:p>
        </p:txBody>
      </p:sp>
      <p:sp>
        <p:nvSpPr>
          <p:cNvPr id="28" name="Shape 26"/>
          <p:cNvSpPr/>
          <p:nvPr/>
        </p:nvSpPr>
        <p:spPr>
          <a:xfrm>
            <a:off x="2057400" y="1527048"/>
            <a:ext cx="1645920" cy="420624"/>
          </a:xfrm>
          <a:prstGeom prst="rect">
            <a:avLst/>
          </a:prstGeom>
          <a:solidFill>
            <a:srgbClr val="FFFFFF"/>
          </a:solidFill>
          <a:ln w="6350">
            <a:solidFill>
              <a:srgbClr val="D1D5DB"/>
            </a:solidFill>
            <a:prstDash val="solid"/>
          </a:ln>
        </p:spPr>
      </p:sp>
      <p:sp>
        <p:nvSpPr>
          <p:cNvPr id="29" name="Text 27"/>
          <p:cNvSpPr/>
          <p:nvPr/>
        </p:nvSpPr>
        <p:spPr>
          <a:xfrm>
            <a:off x="2103120" y="1563624"/>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CNN (Deep Learning)</a:t>
            </a:r>
            <a:endParaRPr lang="en-US" sz="900" dirty="0"/>
          </a:p>
        </p:txBody>
      </p:sp>
      <p:sp>
        <p:nvSpPr>
          <p:cNvPr id="30" name="Shape 28"/>
          <p:cNvSpPr/>
          <p:nvPr/>
        </p:nvSpPr>
        <p:spPr>
          <a:xfrm>
            <a:off x="3703320" y="1527048"/>
            <a:ext cx="3291840" cy="420624"/>
          </a:xfrm>
          <a:prstGeom prst="rect">
            <a:avLst/>
          </a:prstGeom>
          <a:solidFill>
            <a:srgbClr val="FFFFFF"/>
          </a:solidFill>
          <a:ln w="6350">
            <a:solidFill>
              <a:srgbClr val="D1D5DB"/>
            </a:solidFill>
            <a:prstDash val="solid"/>
          </a:ln>
        </p:spPr>
      </p:sp>
      <p:sp>
        <p:nvSpPr>
          <p:cNvPr id="31" name="Text 29"/>
          <p:cNvSpPr/>
          <p:nvPr/>
        </p:nvSpPr>
        <p:spPr>
          <a:xfrm>
            <a:off x="3749040" y="1563624"/>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Photo → Healthy / Healing / Inflamed + day-vs-day compare</a:t>
            </a:r>
            <a:endParaRPr lang="en-US" sz="900" dirty="0"/>
          </a:p>
        </p:txBody>
      </p:sp>
      <p:sp>
        <p:nvSpPr>
          <p:cNvPr id="32" name="Shape 30"/>
          <p:cNvSpPr/>
          <p:nvPr/>
        </p:nvSpPr>
        <p:spPr>
          <a:xfrm>
            <a:off x="6995160" y="1527048"/>
            <a:ext cx="1554480" cy="420624"/>
          </a:xfrm>
          <a:prstGeom prst="rect">
            <a:avLst/>
          </a:prstGeom>
          <a:solidFill>
            <a:srgbClr val="FFFFFF"/>
          </a:solidFill>
          <a:ln w="6350">
            <a:solidFill>
              <a:srgbClr val="D1D5DB"/>
            </a:solidFill>
            <a:prstDash val="solid"/>
          </a:ln>
        </p:spPr>
      </p:sp>
      <p:sp>
        <p:nvSpPr>
          <p:cNvPr id="33" name="Text 31"/>
          <p:cNvSpPr/>
          <p:nvPr/>
        </p:nvSpPr>
        <p:spPr>
          <a:xfrm>
            <a:off x="7040880" y="1563624"/>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100% val accuracy</a:t>
            </a:r>
            <a:endParaRPr lang="en-US" sz="900" dirty="0"/>
          </a:p>
        </p:txBody>
      </p:sp>
      <p:sp>
        <p:nvSpPr>
          <p:cNvPr id="34" name="Shape 32"/>
          <p:cNvSpPr/>
          <p:nvPr/>
        </p:nvSpPr>
        <p:spPr>
          <a:xfrm>
            <a:off x="228600" y="1947672"/>
            <a:ext cx="640080" cy="420624"/>
          </a:xfrm>
          <a:prstGeom prst="rect">
            <a:avLst/>
          </a:prstGeom>
          <a:solidFill>
            <a:srgbClr val="E8F5EE"/>
          </a:solidFill>
          <a:ln w="6350">
            <a:solidFill>
              <a:srgbClr val="D1D5DB"/>
            </a:solidFill>
            <a:prstDash val="solid"/>
          </a:ln>
        </p:spPr>
      </p:sp>
      <p:sp>
        <p:nvSpPr>
          <p:cNvPr id="35" name="Text 33"/>
          <p:cNvSpPr/>
          <p:nvPr/>
        </p:nvSpPr>
        <p:spPr>
          <a:xfrm>
            <a:off x="274320" y="1984248"/>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3</a:t>
            </a:r>
            <a:endParaRPr lang="en-US" sz="900" dirty="0"/>
          </a:p>
        </p:txBody>
      </p:sp>
      <p:sp>
        <p:nvSpPr>
          <p:cNvPr id="36" name="Shape 34"/>
          <p:cNvSpPr/>
          <p:nvPr/>
        </p:nvSpPr>
        <p:spPr>
          <a:xfrm>
            <a:off x="868680" y="1947672"/>
            <a:ext cx="1188720" cy="420624"/>
          </a:xfrm>
          <a:prstGeom prst="rect">
            <a:avLst/>
          </a:prstGeom>
          <a:solidFill>
            <a:srgbClr val="E8F5EE"/>
          </a:solidFill>
          <a:ln w="6350">
            <a:solidFill>
              <a:srgbClr val="D1D5DB"/>
            </a:solidFill>
            <a:prstDash val="solid"/>
          </a:ln>
        </p:spPr>
      </p:sp>
      <p:sp>
        <p:nvSpPr>
          <p:cNvPr id="37" name="Text 35"/>
          <p:cNvSpPr/>
          <p:nvPr/>
        </p:nvSpPr>
        <p:spPr>
          <a:xfrm>
            <a:off x="914400" y="1984248"/>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Recovery Tracking</a:t>
            </a:r>
            <a:endParaRPr lang="en-US" sz="900" dirty="0"/>
          </a:p>
        </p:txBody>
      </p:sp>
      <p:sp>
        <p:nvSpPr>
          <p:cNvPr id="38" name="Shape 36"/>
          <p:cNvSpPr/>
          <p:nvPr/>
        </p:nvSpPr>
        <p:spPr>
          <a:xfrm>
            <a:off x="2057400" y="1947672"/>
            <a:ext cx="1645920" cy="420624"/>
          </a:xfrm>
          <a:prstGeom prst="rect">
            <a:avLst/>
          </a:prstGeom>
          <a:solidFill>
            <a:srgbClr val="E8F5EE"/>
          </a:solidFill>
          <a:ln w="6350">
            <a:solidFill>
              <a:srgbClr val="D1D5DB"/>
            </a:solidFill>
            <a:prstDash val="solid"/>
          </a:ln>
        </p:spPr>
      </p:sp>
      <p:sp>
        <p:nvSpPr>
          <p:cNvPr id="39" name="Text 37"/>
          <p:cNvSpPr/>
          <p:nvPr/>
        </p:nvSpPr>
        <p:spPr>
          <a:xfrm>
            <a:off x="2103120" y="1984248"/>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Data Science (Pandas)</a:t>
            </a:r>
            <a:endParaRPr lang="en-US" sz="900" dirty="0"/>
          </a:p>
        </p:txBody>
      </p:sp>
      <p:sp>
        <p:nvSpPr>
          <p:cNvPr id="40" name="Shape 38"/>
          <p:cNvSpPr/>
          <p:nvPr/>
        </p:nvSpPr>
        <p:spPr>
          <a:xfrm>
            <a:off x="3703320" y="1947672"/>
            <a:ext cx="3291840" cy="420624"/>
          </a:xfrm>
          <a:prstGeom prst="rect">
            <a:avLst/>
          </a:prstGeom>
          <a:solidFill>
            <a:srgbClr val="E8F5EE"/>
          </a:solidFill>
          <a:ln w="6350">
            <a:solidFill>
              <a:srgbClr val="D1D5DB"/>
            </a:solidFill>
            <a:prstDash val="solid"/>
          </a:ln>
        </p:spPr>
      </p:sp>
      <p:sp>
        <p:nvSpPr>
          <p:cNvPr id="41" name="Text 39"/>
          <p:cNvSpPr/>
          <p:nvPr/>
        </p:nvSpPr>
        <p:spPr>
          <a:xfrm>
            <a:off x="3749040" y="1984248"/>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Daily log → Health Score (0–100) + trend detection</a:t>
            </a:r>
            <a:endParaRPr lang="en-US" sz="900" dirty="0"/>
          </a:p>
        </p:txBody>
      </p:sp>
      <p:sp>
        <p:nvSpPr>
          <p:cNvPr id="42" name="Shape 40"/>
          <p:cNvSpPr/>
          <p:nvPr/>
        </p:nvSpPr>
        <p:spPr>
          <a:xfrm>
            <a:off x="6995160" y="1947672"/>
            <a:ext cx="1554480" cy="420624"/>
          </a:xfrm>
          <a:prstGeom prst="rect">
            <a:avLst/>
          </a:prstGeom>
          <a:solidFill>
            <a:srgbClr val="E8F5EE"/>
          </a:solidFill>
          <a:ln w="6350">
            <a:solidFill>
              <a:srgbClr val="D1D5DB"/>
            </a:solidFill>
            <a:prstDash val="solid"/>
          </a:ln>
        </p:spPr>
      </p:sp>
      <p:sp>
        <p:nvSpPr>
          <p:cNvPr id="43" name="Text 41"/>
          <p:cNvSpPr/>
          <p:nvPr/>
        </p:nvSpPr>
        <p:spPr>
          <a:xfrm>
            <a:off x="7040880" y="1984248"/>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Statistical</a:t>
            </a:r>
            <a:endParaRPr lang="en-US" sz="900" dirty="0"/>
          </a:p>
        </p:txBody>
      </p:sp>
      <p:sp>
        <p:nvSpPr>
          <p:cNvPr id="44" name="Shape 42"/>
          <p:cNvSpPr/>
          <p:nvPr/>
        </p:nvSpPr>
        <p:spPr>
          <a:xfrm>
            <a:off x="228600" y="2368296"/>
            <a:ext cx="640080" cy="420624"/>
          </a:xfrm>
          <a:prstGeom prst="rect">
            <a:avLst/>
          </a:prstGeom>
          <a:solidFill>
            <a:srgbClr val="FFFFFF"/>
          </a:solidFill>
          <a:ln w="6350">
            <a:solidFill>
              <a:srgbClr val="D1D5DB"/>
            </a:solidFill>
            <a:prstDash val="solid"/>
          </a:ln>
        </p:spPr>
      </p:sp>
      <p:sp>
        <p:nvSpPr>
          <p:cNvPr id="45" name="Text 43"/>
          <p:cNvSpPr/>
          <p:nvPr/>
        </p:nvSpPr>
        <p:spPr>
          <a:xfrm>
            <a:off x="274320" y="2404872"/>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4</a:t>
            </a:r>
            <a:endParaRPr lang="en-US" sz="900" dirty="0"/>
          </a:p>
        </p:txBody>
      </p:sp>
      <p:sp>
        <p:nvSpPr>
          <p:cNvPr id="46" name="Shape 44"/>
          <p:cNvSpPr/>
          <p:nvPr/>
        </p:nvSpPr>
        <p:spPr>
          <a:xfrm>
            <a:off x="868680" y="2368296"/>
            <a:ext cx="1188720" cy="420624"/>
          </a:xfrm>
          <a:prstGeom prst="rect">
            <a:avLst/>
          </a:prstGeom>
          <a:solidFill>
            <a:srgbClr val="FFFFFF"/>
          </a:solidFill>
          <a:ln w="6350">
            <a:solidFill>
              <a:srgbClr val="D1D5DB"/>
            </a:solidFill>
            <a:prstDash val="solid"/>
          </a:ln>
        </p:spPr>
      </p:sp>
      <p:sp>
        <p:nvSpPr>
          <p:cNvPr id="47" name="Text 45"/>
          <p:cNvSpPr/>
          <p:nvPr/>
        </p:nvSpPr>
        <p:spPr>
          <a:xfrm>
            <a:off x="914400" y="2404872"/>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GenAI Explainer</a:t>
            </a:r>
            <a:endParaRPr lang="en-US" sz="900" dirty="0"/>
          </a:p>
        </p:txBody>
      </p:sp>
      <p:sp>
        <p:nvSpPr>
          <p:cNvPr id="48" name="Shape 46"/>
          <p:cNvSpPr/>
          <p:nvPr/>
        </p:nvSpPr>
        <p:spPr>
          <a:xfrm>
            <a:off x="2057400" y="2368296"/>
            <a:ext cx="1645920" cy="420624"/>
          </a:xfrm>
          <a:prstGeom prst="rect">
            <a:avLst/>
          </a:prstGeom>
          <a:solidFill>
            <a:srgbClr val="FFFFFF"/>
          </a:solidFill>
          <a:ln w="6350">
            <a:solidFill>
              <a:srgbClr val="D1D5DB"/>
            </a:solidFill>
            <a:prstDash val="solid"/>
          </a:ln>
        </p:spPr>
      </p:sp>
      <p:sp>
        <p:nvSpPr>
          <p:cNvPr id="49" name="Text 47"/>
          <p:cNvSpPr/>
          <p:nvPr/>
        </p:nvSpPr>
        <p:spPr>
          <a:xfrm>
            <a:off x="2103120" y="2404872"/>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Template + LLM-ready</a:t>
            </a:r>
            <a:endParaRPr lang="en-US" sz="900" dirty="0"/>
          </a:p>
        </p:txBody>
      </p:sp>
      <p:sp>
        <p:nvSpPr>
          <p:cNvPr id="50" name="Shape 48"/>
          <p:cNvSpPr/>
          <p:nvPr/>
        </p:nvSpPr>
        <p:spPr>
          <a:xfrm>
            <a:off x="3703320" y="2368296"/>
            <a:ext cx="3291840" cy="420624"/>
          </a:xfrm>
          <a:prstGeom prst="rect">
            <a:avLst/>
          </a:prstGeom>
          <a:solidFill>
            <a:srgbClr val="FFFFFF"/>
          </a:solidFill>
          <a:ln w="6350">
            <a:solidFill>
              <a:srgbClr val="D1D5DB"/>
            </a:solidFill>
            <a:prstDash val="solid"/>
          </a:ln>
        </p:spPr>
      </p:sp>
      <p:sp>
        <p:nvSpPr>
          <p:cNvPr id="51" name="Text 49"/>
          <p:cNvSpPr/>
          <p:nvPr/>
        </p:nvSpPr>
        <p:spPr>
          <a:xfrm>
            <a:off x="3749040" y="2404872"/>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Recovery summary + 3-meal diet plan + safety note</a:t>
            </a:r>
            <a:endParaRPr lang="en-US" sz="900" dirty="0"/>
          </a:p>
        </p:txBody>
      </p:sp>
      <p:sp>
        <p:nvSpPr>
          <p:cNvPr id="52" name="Shape 50"/>
          <p:cNvSpPr/>
          <p:nvPr/>
        </p:nvSpPr>
        <p:spPr>
          <a:xfrm>
            <a:off x="6995160" y="2368296"/>
            <a:ext cx="1554480" cy="420624"/>
          </a:xfrm>
          <a:prstGeom prst="rect">
            <a:avLst/>
          </a:prstGeom>
          <a:solidFill>
            <a:srgbClr val="FFFFFF"/>
          </a:solidFill>
          <a:ln w="6350">
            <a:solidFill>
              <a:srgbClr val="D1D5DB"/>
            </a:solidFill>
            <a:prstDash val="solid"/>
          </a:ln>
        </p:spPr>
      </p:sp>
      <p:sp>
        <p:nvSpPr>
          <p:cNvPr id="53" name="Text 51"/>
          <p:cNvSpPr/>
          <p:nvPr/>
        </p:nvSpPr>
        <p:spPr>
          <a:xfrm>
            <a:off x="7040880" y="2404872"/>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No API key needed</a:t>
            </a:r>
            <a:endParaRPr lang="en-US" sz="900" dirty="0"/>
          </a:p>
        </p:txBody>
      </p:sp>
      <p:sp>
        <p:nvSpPr>
          <p:cNvPr id="54" name="Shape 52"/>
          <p:cNvSpPr/>
          <p:nvPr/>
        </p:nvSpPr>
        <p:spPr>
          <a:xfrm>
            <a:off x="228600" y="2788920"/>
            <a:ext cx="640080" cy="420624"/>
          </a:xfrm>
          <a:prstGeom prst="rect">
            <a:avLst/>
          </a:prstGeom>
          <a:solidFill>
            <a:srgbClr val="E8F5EE"/>
          </a:solidFill>
          <a:ln w="6350">
            <a:solidFill>
              <a:srgbClr val="D1D5DB"/>
            </a:solidFill>
            <a:prstDash val="solid"/>
          </a:ln>
        </p:spPr>
      </p:sp>
      <p:sp>
        <p:nvSpPr>
          <p:cNvPr id="55" name="Text 53"/>
          <p:cNvSpPr/>
          <p:nvPr/>
        </p:nvSpPr>
        <p:spPr>
          <a:xfrm>
            <a:off x="274320" y="2825496"/>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5</a:t>
            </a:r>
            <a:endParaRPr lang="en-US" sz="900" dirty="0"/>
          </a:p>
        </p:txBody>
      </p:sp>
      <p:sp>
        <p:nvSpPr>
          <p:cNvPr id="56" name="Shape 54"/>
          <p:cNvSpPr/>
          <p:nvPr/>
        </p:nvSpPr>
        <p:spPr>
          <a:xfrm>
            <a:off x="868680" y="2788920"/>
            <a:ext cx="1188720" cy="420624"/>
          </a:xfrm>
          <a:prstGeom prst="rect">
            <a:avLst/>
          </a:prstGeom>
          <a:solidFill>
            <a:srgbClr val="E8F5EE"/>
          </a:solidFill>
          <a:ln w="6350">
            <a:solidFill>
              <a:srgbClr val="D1D5DB"/>
            </a:solidFill>
            <a:prstDash val="solid"/>
          </a:ln>
        </p:spPr>
      </p:sp>
      <p:sp>
        <p:nvSpPr>
          <p:cNvPr id="57" name="Text 55"/>
          <p:cNvSpPr/>
          <p:nvPr/>
        </p:nvSpPr>
        <p:spPr>
          <a:xfrm>
            <a:off x="914400" y="2825496"/>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Medicine Tracker</a:t>
            </a:r>
            <a:endParaRPr lang="en-US" sz="900" dirty="0"/>
          </a:p>
        </p:txBody>
      </p:sp>
      <p:sp>
        <p:nvSpPr>
          <p:cNvPr id="58" name="Shape 56"/>
          <p:cNvSpPr/>
          <p:nvPr/>
        </p:nvSpPr>
        <p:spPr>
          <a:xfrm>
            <a:off x="2057400" y="2788920"/>
            <a:ext cx="1645920" cy="420624"/>
          </a:xfrm>
          <a:prstGeom prst="rect">
            <a:avLst/>
          </a:prstGeom>
          <a:solidFill>
            <a:srgbClr val="E8F5EE"/>
          </a:solidFill>
          <a:ln w="6350">
            <a:solidFill>
              <a:srgbClr val="D1D5DB"/>
            </a:solidFill>
            <a:prstDash val="solid"/>
          </a:ln>
        </p:spPr>
      </p:sp>
      <p:sp>
        <p:nvSpPr>
          <p:cNvPr id="59" name="Text 57"/>
          <p:cNvSpPr/>
          <p:nvPr/>
        </p:nvSpPr>
        <p:spPr>
          <a:xfrm>
            <a:off x="2103120" y="2825496"/>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Rule engine + Browser API</a:t>
            </a:r>
            <a:endParaRPr lang="en-US" sz="900" dirty="0"/>
          </a:p>
        </p:txBody>
      </p:sp>
      <p:sp>
        <p:nvSpPr>
          <p:cNvPr id="60" name="Shape 58"/>
          <p:cNvSpPr/>
          <p:nvPr/>
        </p:nvSpPr>
        <p:spPr>
          <a:xfrm>
            <a:off x="3703320" y="2788920"/>
            <a:ext cx="3291840" cy="420624"/>
          </a:xfrm>
          <a:prstGeom prst="rect">
            <a:avLst/>
          </a:prstGeom>
          <a:solidFill>
            <a:srgbClr val="E8F5EE"/>
          </a:solidFill>
          <a:ln w="6350">
            <a:solidFill>
              <a:srgbClr val="D1D5DB"/>
            </a:solidFill>
            <a:prstDash val="solid"/>
          </a:ln>
        </p:spPr>
      </p:sp>
      <p:sp>
        <p:nvSpPr>
          <p:cNvPr id="61" name="Text 59"/>
          <p:cNvSpPr/>
          <p:nvPr/>
        </p:nvSpPr>
        <p:spPr>
          <a:xfrm>
            <a:off x="3749040" y="2825496"/>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Add meds, set timings → browser alarm notifications</a:t>
            </a:r>
            <a:endParaRPr lang="en-US" sz="900" dirty="0"/>
          </a:p>
        </p:txBody>
      </p:sp>
      <p:sp>
        <p:nvSpPr>
          <p:cNvPr id="62" name="Shape 60"/>
          <p:cNvSpPr/>
          <p:nvPr/>
        </p:nvSpPr>
        <p:spPr>
          <a:xfrm>
            <a:off x="6995160" y="2788920"/>
            <a:ext cx="1554480" cy="420624"/>
          </a:xfrm>
          <a:prstGeom prst="rect">
            <a:avLst/>
          </a:prstGeom>
          <a:solidFill>
            <a:srgbClr val="E8F5EE"/>
          </a:solidFill>
          <a:ln w="6350">
            <a:solidFill>
              <a:srgbClr val="D1D5DB"/>
            </a:solidFill>
            <a:prstDash val="solid"/>
          </a:ln>
        </p:spPr>
      </p:sp>
      <p:sp>
        <p:nvSpPr>
          <p:cNvPr id="63" name="Text 61"/>
          <p:cNvSpPr/>
          <p:nvPr/>
        </p:nvSpPr>
        <p:spPr>
          <a:xfrm>
            <a:off x="7040880" y="2825496"/>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Offline</a:t>
            </a:r>
            <a:endParaRPr lang="en-US" sz="900" dirty="0"/>
          </a:p>
        </p:txBody>
      </p:sp>
      <p:sp>
        <p:nvSpPr>
          <p:cNvPr id="64" name="Shape 62"/>
          <p:cNvSpPr/>
          <p:nvPr/>
        </p:nvSpPr>
        <p:spPr>
          <a:xfrm>
            <a:off x="228600" y="3209544"/>
            <a:ext cx="640080" cy="420624"/>
          </a:xfrm>
          <a:prstGeom prst="rect">
            <a:avLst/>
          </a:prstGeom>
          <a:solidFill>
            <a:srgbClr val="FFFFFF"/>
          </a:solidFill>
          <a:ln w="6350">
            <a:solidFill>
              <a:srgbClr val="D1D5DB"/>
            </a:solidFill>
            <a:prstDash val="solid"/>
          </a:ln>
        </p:spPr>
      </p:sp>
      <p:sp>
        <p:nvSpPr>
          <p:cNvPr id="65" name="Text 63"/>
          <p:cNvSpPr/>
          <p:nvPr/>
        </p:nvSpPr>
        <p:spPr>
          <a:xfrm>
            <a:off x="274320" y="3246120"/>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6</a:t>
            </a:r>
            <a:endParaRPr lang="en-US" sz="900" dirty="0"/>
          </a:p>
        </p:txBody>
      </p:sp>
      <p:sp>
        <p:nvSpPr>
          <p:cNvPr id="66" name="Shape 64"/>
          <p:cNvSpPr/>
          <p:nvPr/>
        </p:nvSpPr>
        <p:spPr>
          <a:xfrm>
            <a:off x="868680" y="3209544"/>
            <a:ext cx="1188720" cy="420624"/>
          </a:xfrm>
          <a:prstGeom prst="rect">
            <a:avLst/>
          </a:prstGeom>
          <a:solidFill>
            <a:srgbClr val="FFFFFF"/>
          </a:solidFill>
          <a:ln w="6350">
            <a:solidFill>
              <a:srgbClr val="D1D5DB"/>
            </a:solidFill>
            <a:prstDash val="solid"/>
          </a:ln>
        </p:spPr>
      </p:sp>
      <p:sp>
        <p:nvSpPr>
          <p:cNvPr id="67" name="Text 65"/>
          <p:cNvSpPr/>
          <p:nvPr/>
        </p:nvSpPr>
        <p:spPr>
          <a:xfrm>
            <a:off x="914400" y="3246120"/>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Follow-up Engine</a:t>
            </a:r>
            <a:endParaRPr lang="en-US" sz="900" dirty="0"/>
          </a:p>
        </p:txBody>
      </p:sp>
      <p:sp>
        <p:nvSpPr>
          <p:cNvPr id="68" name="Shape 66"/>
          <p:cNvSpPr/>
          <p:nvPr/>
        </p:nvSpPr>
        <p:spPr>
          <a:xfrm>
            <a:off x="2057400" y="3209544"/>
            <a:ext cx="1645920" cy="420624"/>
          </a:xfrm>
          <a:prstGeom prst="rect">
            <a:avLst/>
          </a:prstGeom>
          <a:solidFill>
            <a:srgbClr val="FFFFFF"/>
          </a:solidFill>
          <a:ln w="6350">
            <a:solidFill>
              <a:srgbClr val="D1D5DB"/>
            </a:solidFill>
            <a:prstDash val="solid"/>
          </a:ln>
        </p:spPr>
      </p:sp>
      <p:sp>
        <p:nvSpPr>
          <p:cNvPr id="69" name="Text 67"/>
          <p:cNvSpPr/>
          <p:nvPr/>
        </p:nvSpPr>
        <p:spPr>
          <a:xfrm>
            <a:off x="2103120" y="3246120"/>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Rule-based decision</a:t>
            </a:r>
            <a:endParaRPr lang="en-US" sz="900" dirty="0"/>
          </a:p>
        </p:txBody>
      </p:sp>
      <p:sp>
        <p:nvSpPr>
          <p:cNvPr id="70" name="Shape 68"/>
          <p:cNvSpPr/>
          <p:nvPr/>
        </p:nvSpPr>
        <p:spPr>
          <a:xfrm>
            <a:off x="3703320" y="3209544"/>
            <a:ext cx="3291840" cy="420624"/>
          </a:xfrm>
          <a:prstGeom prst="rect">
            <a:avLst/>
          </a:prstGeom>
          <a:solidFill>
            <a:srgbClr val="FFFFFF"/>
          </a:solidFill>
          <a:ln w="6350">
            <a:solidFill>
              <a:srgbClr val="D1D5DB"/>
            </a:solidFill>
            <a:prstDash val="solid"/>
          </a:ln>
        </p:spPr>
      </p:sp>
      <p:sp>
        <p:nvSpPr>
          <p:cNvPr id="71" name="Text 69"/>
          <p:cNvSpPr/>
          <p:nvPr/>
        </p:nvSpPr>
        <p:spPr>
          <a:xfrm>
            <a:off x="3749040" y="3246120"/>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No checkup / Monitor 2 days / Visit doctor</a:t>
            </a:r>
            <a:endParaRPr lang="en-US" sz="900" dirty="0"/>
          </a:p>
        </p:txBody>
      </p:sp>
      <p:sp>
        <p:nvSpPr>
          <p:cNvPr id="72" name="Shape 70"/>
          <p:cNvSpPr/>
          <p:nvPr/>
        </p:nvSpPr>
        <p:spPr>
          <a:xfrm>
            <a:off x="6995160" y="3209544"/>
            <a:ext cx="1554480" cy="420624"/>
          </a:xfrm>
          <a:prstGeom prst="rect">
            <a:avLst/>
          </a:prstGeom>
          <a:solidFill>
            <a:srgbClr val="FFFFFF"/>
          </a:solidFill>
          <a:ln w="6350">
            <a:solidFill>
              <a:srgbClr val="D1D5DB"/>
            </a:solidFill>
            <a:prstDash val="solid"/>
          </a:ln>
        </p:spPr>
      </p:sp>
      <p:sp>
        <p:nvSpPr>
          <p:cNvPr id="73" name="Text 71"/>
          <p:cNvSpPr/>
          <p:nvPr/>
        </p:nvSpPr>
        <p:spPr>
          <a:xfrm>
            <a:off x="7040880" y="3246120"/>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Explainable</a:t>
            </a:r>
            <a:endParaRPr lang="en-US" sz="900" dirty="0"/>
          </a:p>
        </p:txBody>
      </p:sp>
      <p:sp>
        <p:nvSpPr>
          <p:cNvPr id="74" name="Shape 72"/>
          <p:cNvSpPr/>
          <p:nvPr/>
        </p:nvSpPr>
        <p:spPr>
          <a:xfrm>
            <a:off x="228600" y="3630168"/>
            <a:ext cx="640080" cy="420624"/>
          </a:xfrm>
          <a:prstGeom prst="rect">
            <a:avLst/>
          </a:prstGeom>
          <a:solidFill>
            <a:srgbClr val="E8F5EE"/>
          </a:solidFill>
          <a:ln w="6350">
            <a:solidFill>
              <a:srgbClr val="D1D5DB"/>
            </a:solidFill>
            <a:prstDash val="solid"/>
          </a:ln>
        </p:spPr>
      </p:sp>
      <p:sp>
        <p:nvSpPr>
          <p:cNvPr id="75" name="Text 73"/>
          <p:cNvSpPr/>
          <p:nvPr/>
        </p:nvSpPr>
        <p:spPr>
          <a:xfrm>
            <a:off x="274320" y="3666744"/>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7</a:t>
            </a:r>
            <a:endParaRPr lang="en-US" sz="900" dirty="0"/>
          </a:p>
        </p:txBody>
      </p:sp>
      <p:sp>
        <p:nvSpPr>
          <p:cNvPr id="76" name="Shape 74"/>
          <p:cNvSpPr/>
          <p:nvPr/>
        </p:nvSpPr>
        <p:spPr>
          <a:xfrm>
            <a:off x="868680" y="3630168"/>
            <a:ext cx="1188720" cy="420624"/>
          </a:xfrm>
          <a:prstGeom prst="rect">
            <a:avLst/>
          </a:prstGeom>
          <a:solidFill>
            <a:srgbClr val="E8F5EE"/>
          </a:solidFill>
          <a:ln w="6350">
            <a:solidFill>
              <a:srgbClr val="D1D5DB"/>
            </a:solidFill>
            <a:prstDash val="solid"/>
          </a:ln>
        </p:spPr>
      </p:sp>
      <p:sp>
        <p:nvSpPr>
          <p:cNvPr id="77" name="Text 75"/>
          <p:cNvSpPr/>
          <p:nvPr/>
        </p:nvSpPr>
        <p:spPr>
          <a:xfrm>
            <a:off x="914400" y="3666744"/>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Voice + Language</a:t>
            </a:r>
            <a:endParaRPr lang="en-US" sz="900" dirty="0"/>
          </a:p>
        </p:txBody>
      </p:sp>
      <p:sp>
        <p:nvSpPr>
          <p:cNvPr id="78" name="Shape 76"/>
          <p:cNvSpPr/>
          <p:nvPr/>
        </p:nvSpPr>
        <p:spPr>
          <a:xfrm>
            <a:off x="2057400" y="3630168"/>
            <a:ext cx="1645920" cy="420624"/>
          </a:xfrm>
          <a:prstGeom prst="rect">
            <a:avLst/>
          </a:prstGeom>
          <a:solidFill>
            <a:srgbClr val="E8F5EE"/>
          </a:solidFill>
          <a:ln w="6350">
            <a:solidFill>
              <a:srgbClr val="D1D5DB"/>
            </a:solidFill>
            <a:prstDash val="solid"/>
          </a:ln>
        </p:spPr>
      </p:sp>
      <p:sp>
        <p:nvSpPr>
          <p:cNvPr id="79" name="Text 77"/>
          <p:cNvSpPr/>
          <p:nvPr/>
        </p:nvSpPr>
        <p:spPr>
          <a:xfrm>
            <a:off x="2103120" y="3666744"/>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Web Speech API</a:t>
            </a:r>
            <a:endParaRPr lang="en-US" sz="900" dirty="0"/>
          </a:p>
        </p:txBody>
      </p:sp>
      <p:sp>
        <p:nvSpPr>
          <p:cNvPr id="80" name="Shape 78"/>
          <p:cNvSpPr/>
          <p:nvPr/>
        </p:nvSpPr>
        <p:spPr>
          <a:xfrm>
            <a:off x="3703320" y="3630168"/>
            <a:ext cx="3291840" cy="420624"/>
          </a:xfrm>
          <a:prstGeom prst="rect">
            <a:avLst/>
          </a:prstGeom>
          <a:solidFill>
            <a:srgbClr val="E8F5EE"/>
          </a:solidFill>
          <a:ln w="6350">
            <a:solidFill>
              <a:srgbClr val="D1D5DB"/>
            </a:solidFill>
            <a:prstDash val="solid"/>
          </a:ln>
        </p:spPr>
      </p:sp>
      <p:sp>
        <p:nvSpPr>
          <p:cNvPr id="81" name="Text 79"/>
          <p:cNvSpPr/>
          <p:nvPr/>
        </p:nvSpPr>
        <p:spPr>
          <a:xfrm>
            <a:off x="3749040" y="3666744"/>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11 languages: speak in, read out — for uneducated users</a:t>
            </a:r>
            <a:endParaRPr lang="en-US" sz="900" dirty="0"/>
          </a:p>
        </p:txBody>
      </p:sp>
      <p:sp>
        <p:nvSpPr>
          <p:cNvPr id="82" name="Shape 80"/>
          <p:cNvSpPr/>
          <p:nvPr/>
        </p:nvSpPr>
        <p:spPr>
          <a:xfrm>
            <a:off x="6995160" y="3630168"/>
            <a:ext cx="1554480" cy="420624"/>
          </a:xfrm>
          <a:prstGeom prst="rect">
            <a:avLst/>
          </a:prstGeom>
          <a:solidFill>
            <a:srgbClr val="E8F5EE"/>
          </a:solidFill>
          <a:ln w="6350">
            <a:solidFill>
              <a:srgbClr val="D1D5DB"/>
            </a:solidFill>
            <a:prstDash val="solid"/>
          </a:ln>
        </p:spPr>
      </p:sp>
      <p:sp>
        <p:nvSpPr>
          <p:cNvPr id="83" name="Text 81"/>
          <p:cNvSpPr/>
          <p:nvPr/>
        </p:nvSpPr>
        <p:spPr>
          <a:xfrm>
            <a:off x="7040880" y="3666744"/>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Offline capable</a:t>
            </a:r>
            <a:endParaRPr lang="en-US" sz="900" dirty="0"/>
          </a:p>
        </p:txBody>
      </p:sp>
      <p:sp>
        <p:nvSpPr>
          <p:cNvPr id="84" name="Shape 82"/>
          <p:cNvSpPr/>
          <p:nvPr/>
        </p:nvSpPr>
        <p:spPr>
          <a:xfrm>
            <a:off x="228600" y="4050792"/>
            <a:ext cx="640080" cy="420624"/>
          </a:xfrm>
          <a:prstGeom prst="rect">
            <a:avLst/>
          </a:prstGeom>
          <a:solidFill>
            <a:srgbClr val="FFFFFF"/>
          </a:solidFill>
          <a:ln w="6350">
            <a:solidFill>
              <a:srgbClr val="D1D5DB"/>
            </a:solidFill>
            <a:prstDash val="solid"/>
          </a:ln>
        </p:spPr>
      </p:sp>
      <p:sp>
        <p:nvSpPr>
          <p:cNvPr id="85" name="Text 83"/>
          <p:cNvSpPr/>
          <p:nvPr/>
        </p:nvSpPr>
        <p:spPr>
          <a:xfrm>
            <a:off x="274320" y="4087368"/>
            <a:ext cx="548640" cy="347472"/>
          </a:xfrm>
          <a:prstGeom prst="rect">
            <a:avLst/>
          </a:prstGeom>
          <a:noFill/>
          <a:ln/>
        </p:spPr>
        <p:txBody>
          <a:bodyPr wrap="square" lIns="0" tIns="0" rIns="0" bIns="0" rtlCol="0" anchor="ctr"/>
          <a:lstStyle/>
          <a:p>
            <a:pPr indent="0" marL="0">
              <a:buNone/>
            </a:pPr>
            <a:r>
              <a:rPr lang="en-US" sz="900" b="1" dirty="0">
                <a:solidFill>
                  <a:srgbClr val="1B6B3A"/>
                </a:solidFill>
                <a:latin typeface="Calibri" pitchFamily="34" charset="0"/>
                <a:ea typeface="Calibri" pitchFamily="34" charset="-122"/>
                <a:cs typeface="Calibri" pitchFamily="34" charset="-120"/>
              </a:rPr>
              <a:t>Module 8</a:t>
            </a:r>
            <a:endParaRPr lang="en-US" sz="900" dirty="0"/>
          </a:p>
        </p:txBody>
      </p:sp>
      <p:sp>
        <p:nvSpPr>
          <p:cNvPr id="86" name="Shape 84"/>
          <p:cNvSpPr/>
          <p:nvPr/>
        </p:nvSpPr>
        <p:spPr>
          <a:xfrm>
            <a:off x="868680" y="4050792"/>
            <a:ext cx="1188720" cy="420624"/>
          </a:xfrm>
          <a:prstGeom prst="rect">
            <a:avLst/>
          </a:prstGeom>
          <a:solidFill>
            <a:srgbClr val="FFFFFF"/>
          </a:solidFill>
          <a:ln w="6350">
            <a:solidFill>
              <a:srgbClr val="D1D5DB"/>
            </a:solidFill>
            <a:prstDash val="solid"/>
          </a:ln>
        </p:spPr>
      </p:sp>
      <p:sp>
        <p:nvSpPr>
          <p:cNvPr id="87" name="Text 85"/>
          <p:cNvSpPr/>
          <p:nvPr/>
        </p:nvSpPr>
        <p:spPr>
          <a:xfrm>
            <a:off x="914400" y="4087368"/>
            <a:ext cx="10972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Chat Assistant</a:t>
            </a:r>
            <a:endParaRPr lang="en-US" sz="900" dirty="0"/>
          </a:p>
        </p:txBody>
      </p:sp>
      <p:sp>
        <p:nvSpPr>
          <p:cNvPr id="88" name="Shape 86"/>
          <p:cNvSpPr/>
          <p:nvPr/>
        </p:nvSpPr>
        <p:spPr>
          <a:xfrm>
            <a:off x="2057400" y="4050792"/>
            <a:ext cx="1645920" cy="420624"/>
          </a:xfrm>
          <a:prstGeom prst="rect">
            <a:avLst/>
          </a:prstGeom>
          <a:solidFill>
            <a:srgbClr val="FFFFFF"/>
          </a:solidFill>
          <a:ln w="6350">
            <a:solidFill>
              <a:srgbClr val="D1D5DB"/>
            </a:solidFill>
            <a:prstDash val="solid"/>
          </a:ln>
        </p:spPr>
      </p:sp>
      <p:sp>
        <p:nvSpPr>
          <p:cNvPr id="89" name="Text 87"/>
          <p:cNvSpPr/>
          <p:nvPr/>
        </p:nvSpPr>
        <p:spPr>
          <a:xfrm>
            <a:off x="2103120" y="4087368"/>
            <a:ext cx="155448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Knowledge-base NLU</a:t>
            </a:r>
            <a:endParaRPr lang="en-US" sz="900" dirty="0"/>
          </a:p>
        </p:txBody>
      </p:sp>
      <p:sp>
        <p:nvSpPr>
          <p:cNvPr id="90" name="Shape 88"/>
          <p:cNvSpPr/>
          <p:nvPr/>
        </p:nvSpPr>
        <p:spPr>
          <a:xfrm>
            <a:off x="3703320" y="4050792"/>
            <a:ext cx="3291840" cy="420624"/>
          </a:xfrm>
          <a:prstGeom prst="rect">
            <a:avLst/>
          </a:prstGeom>
          <a:solidFill>
            <a:srgbClr val="FFFFFF"/>
          </a:solidFill>
          <a:ln w="6350">
            <a:solidFill>
              <a:srgbClr val="D1D5DB"/>
            </a:solidFill>
            <a:prstDash val="solid"/>
          </a:ln>
        </p:spPr>
      </p:sp>
      <p:sp>
        <p:nvSpPr>
          <p:cNvPr id="91" name="Text 89"/>
          <p:cNvSpPr/>
          <p:nvPr/>
        </p:nvSpPr>
        <p:spPr>
          <a:xfrm>
            <a:off x="3749040" y="4087368"/>
            <a:ext cx="320040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Multi-turn Q&amp;A: do's, don'ts, diet, work, travel</a:t>
            </a:r>
            <a:endParaRPr lang="en-US" sz="900" dirty="0"/>
          </a:p>
        </p:txBody>
      </p:sp>
      <p:sp>
        <p:nvSpPr>
          <p:cNvPr id="92" name="Shape 90"/>
          <p:cNvSpPr/>
          <p:nvPr/>
        </p:nvSpPr>
        <p:spPr>
          <a:xfrm>
            <a:off x="6995160" y="4050792"/>
            <a:ext cx="1554480" cy="420624"/>
          </a:xfrm>
          <a:prstGeom prst="rect">
            <a:avLst/>
          </a:prstGeom>
          <a:solidFill>
            <a:srgbClr val="FFFFFF"/>
          </a:solidFill>
          <a:ln w="6350">
            <a:solidFill>
              <a:srgbClr val="D1D5DB"/>
            </a:solidFill>
            <a:prstDash val="solid"/>
          </a:ln>
        </p:spPr>
      </p:sp>
      <p:sp>
        <p:nvSpPr>
          <p:cNvPr id="93" name="Text 91"/>
          <p:cNvSpPr/>
          <p:nvPr/>
        </p:nvSpPr>
        <p:spPr>
          <a:xfrm>
            <a:off x="7040880" y="4087368"/>
            <a:ext cx="1463040" cy="347472"/>
          </a:xfrm>
          <a:prstGeom prst="rect">
            <a:avLst/>
          </a:prstGeom>
          <a:noFill/>
          <a:ln/>
        </p:spPr>
        <p:txBody>
          <a:bodyPr wrap="square" lIns="0" tIns="0" rIns="0" bIns="0" rtlCol="0" anchor="ctr"/>
          <a:lstStyle/>
          <a:p>
            <a:pPr indent="0" marL="0">
              <a:buNone/>
            </a:pPr>
            <a:r>
              <a:rPr lang="en-US" sz="900" dirty="0">
                <a:solidFill>
                  <a:srgbClr val="1A1A2E"/>
                </a:solidFill>
                <a:latin typeface="Calibri" pitchFamily="34" charset="0"/>
                <a:ea typeface="Calibri" pitchFamily="34" charset="-122"/>
                <a:cs typeface="Calibri" pitchFamily="34" charset="-120"/>
              </a:rPr>
              <a:t>Disease-aware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Risk Assessment &amp; Emergency Response</a:t>
            </a:r>
            <a:endParaRPr lang="en-US" sz="2800" dirty="0"/>
          </a:p>
        </p:txBody>
      </p:sp>
      <p:sp>
        <p:nvSpPr>
          <p:cNvPr id="4" name="Shape 2"/>
          <p:cNvSpPr/>
          <p:nvPr/>
        </p:nvSpPr>
        <p:spPr>
          <a:xfrm>
            <a:off x="228600" y="685800"/>
            <a:ext cx="2743200" cy="2560320"/>
          </a:xfrm>
          <a:prstGeom prst="roundRect">
            <a:avLst>
              <a:gd name="adj" fmla="val 2857"/>
            </a:avLst>
          </a:prstGeom>
          <a:solidFill>
            <a:srgbClr val="E8F5EE"/>
          </a:solidFill>
          <a:ln w="15240">
            <a:solidFill>
              <a:srgbClr val="2E8B57"/>
            </a:solidFill>
            <a:prstDash val="solid"/>
          </a:ln>
        </p:spPr>
      </p:sp>
      <p:sp>
        <p:nvSpPr>
          <p:cNvPr id="5" name="Text 3"/>
          <p:cNvSpPr/>
          <p:nvPr/>
        </p:nvSpPr>
        <p:spPr>
          <a:xfrm>
            <a:off x="365760" y="804672"/>
            <a:ext cx="2468880" cy="41148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  LOW RISK</a:t>
            </a:r>
            <a:endParaRPr lang="en-US" sz="1300" dirty="0"/>
          </a:p>
        </p:txBody>
      </p:sp>
      <p:sp>
        <p:nvSpPr>
          <p:cNvPr id="6" name="Text 4"/>
          <p:cNvSpPr/>
          <p:nvPr/>
        </p:nvSpPr>
        <p:spPr>
          <a:xfrm>
            <a:off x="365760" y="1261872"/>
            <a:ext cx="2468880" cy="1737360"/>
          </a:xfrm>
          <a:prstGeom prst="rect">
            <a:avLst/>
          </a:prstGeom>
          <a:noFill/>
          <a:ln/>
        </p:spPr>
        <p:txBody>
          <a:bodyPr wrap="square" lIns="0" tIns="0" rIns="0" bIns="0" rtlCol="0" anchor="t"/>
          <a:lstStyle/>
          <a:p>
            <a:pPr>
              <a:spcAft>
                <a:spcPts val="500"/>
              </a:spcAft>
            </a:pPr>
            <a:r>
              <a:rPr lang="en-US" sz="1100" dirty="0">
                <a:solidFill>
                  <a:srgbClr val="1A1A2E"/>
                </a:solidFill>
                <a:latin typeface="Calibri" pitchFamily="34" charset="0"/>
                <a:ea typeface="Calibri" pitchFamily="34" charset="-122"/>
                <a:cs typeface="Calibri" pitchFamily="34" charset="-120"/>
              </a:rPr>
              <a:t>Home care recommended</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Monitor symptoms daily</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Light activity permitted</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Follow diet &amp; medicine plan</a:t>
            </a:r>
            <a:endParaRPr lang="en-US" sz="1100" dirty="0"/>
          </a:p>
        </p:txBody>
      </p:sp>
      <p:sp>
        <p:nvSpPr>
          <p:cNvPr id="7" name="Shape 5"/>
          <p:cNvSpPr/>
          <p:nvPr/>
        </p:nvSpPr>
        <p:spPr>
          <a:xfrm>
            <a:off x="3200400" y="685800"/>
            <a:ext cx="2743200" cy="2560320"/>
          </a:xfrm>
          <a:prstGeom prst="roundRect">
            <a:avLst>
              <a:gd name="adj" fmla="val 2857"/>
            </a:avLst>
          </a:prstGeom>
          <a:solidFill>
            <a:srgbClr val="FFFBEB"/>
          </a:solidFill>
          <a:ln w="15240">
            <a:solidFill>
              <a:srgbClr val="D97706"/>
            </a:solidFill>
            <a:prstDash val="solid"/>
          </a:ln>
        </p:spPr>
      </p:sp>
      <p:sp>
        <p:nvSpPr>
          <p:cNvPr id="8" name="Text 6"/>
          <p:cNvSpPr/>
          <p:nvPr/>
        </p:nvSpPr>
        <p:spPr>
          <a:xfrm>
            <a:off x="3337560" y="804672"/>
            <a:ext cx="2468880" cy="411480"/>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  MEDIUM RISK</a:t>
            </a:r>
            <a:endParaRPr lang="en-US" sz="1300" dirty="0"/>
          </a:p>
        </p:txBody>
      </p:sp>
      <p:sp>
        <p:nvSpPr>
          <p:cNvPr id="9" name="Text 7"/>
          <p:cNvSpPr/>
          <p:nvPr/>
        </p:nvSpPr>
        <p:spPr>
          <a:xfrm>
            <a:off x="3337560" y="1261872"/>
            <a:ext cx="2468880" cy="1737360"/>
          </a:xfrm>
          <a:prstGeom prst="rect">
            <a:avLst/>
          </a:prstGeom>
          <a:noFill/>
          <a:ln/>
        </p:spPr>
        <p:txBody>
          <a:bodyPr wrap="square" lIns="0" tIns="0" rIns="0" bIns="0" rtlCol="0" anchor="t"/>
          <a:lstStyle/>
          <a:p>
            <a:pPr>
              <a:spcAft>
                <a:spcPts val="500"/>
              </a:spcAft>
            </a:pPr>
            <a:r>
              <a:rPr lang="en-US" sz="1100" dirty="0">
                <a:solidFill>
                  <a:srgbClr val="1A1A2E"/>
                </a:solidFill>
                <a:latin typeface="Calibri" pitchFamily="34" charset="0"/>
                <a:ea typeface="Calibri" pitchFamily="34" charset="-122"/>
                <a:cs typeface="Calibri" pitchFamily="34" charset="-120"/>
              </a:rPr>
              <a:t>Seek doctor within 2–3 days</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Avoid strenuous activity</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Track closely via dashboard</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Medicine adherence critical</a:t>
            </a:r>
            <a:endParaRPr lang="en-US" sz="1100" dirty="0"/>
          </a:p>
        </p:txBody>
      </p:sp>
      <p:sp>
        <p:nvSpPr>
          <p:cNvPr id="10" name="Shape 8"/>
          <p:cNvSpPr/>
          <p:nvPr/>
        </p:nvSpPr>
        <p:spPr>
          <a:xfrm>
            <a:off x="6172200" y="685800"/>
            <a:ext cx="2743200" cy="2560320"/>
          </a:xfrm>
          <a:prstGeom prst="roundRect">
            <a:avLst>
              <a:gd name="adj" fmla="val 2857"/>
            </a:avLst>
          </a:prstGeom>
          <a:solidFill>
            <a:srgbClr val="FEF2F2"/>
          </a:solidFill>
          <a:ln w="15240">
            <a:solidFill>
              <a:srgbClr val="C0392B"/>
            </a:solidFill>
            <a:prstDash val="solid"/>
          </a:ln>
        </p:spPr>
      </p:sp>
      <p:sp>
        <p:nvSpPr>
          <p:cNvPr id="11" name="Text 9"/>
          <p:cNvSpPr/>
          <p:nvPr/>
        </p:nvSpPr>
        <p:spPr>
          <a:xfrm>
            <a:off x="6309360" y="804672"/>
            <a:ext cx="2468880" cy="41148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HIGH RISK</a:t>
            </a:r>
            <a:endParaRPr lang="en-US" sz="1300" dirty="0"/>
          </a:p>
        </p:txBody>
      </p:sp>
      <p:sp>
        <p:nvSpPr>
          <p:cNvPr id="12" name="Text 10"/>
          <p:cNvSpPr/>
          <p:nvPr/>
        </p:nvSpPr>
        <p:spPr>
          <a:xfrm>
            <a:off x="6309360" y="1261872"/>
            <a:ext cx="2468880" cy="1737360"/>
          </a:xfrm>
          <a:prstGeom prst="rect">
            <a:avLst/>
          </a:prstGeom>
          <a:noFill/>
          <a:ln/>
        </p:spPr>
        <p:txBody>
          <a:bodyPr wrap="square" lIns="0" tIns="0" rIns="0" bIns="0" rtlCol="0" anchor="t"/>
          <a:lstStyle/>
          <a:p>
            <a:pPr>
              <a:spcAft>
                <a:spcPts val="500"/>
              </a:spcAft>
            </a:pPr>
            <a:r>
              <a:rPr lang="en-US" sz="1100" dirty="0">
                <a:solidFill>
                  <a:srgbClr val="1A1A2E"/>
                </a:solidFill>
                <a:latin typeface="Calibri" pitchFamily="34" charset="0"/>
                <a:ea typeface="Calibri" pitchFamily="34" charset="-122"/>
                <a:cs typeface="Calibri" pitchFamily="34" charset="-120"/>
              </a:rPr>
              <a:t>EMERGENCY — go to hospital NOW</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Animated red zone alert shown</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One-tap ambulance call (108)</a:t>
            </a:r>
            <a:endParaRPr lang="en-US" sz="1100" dirty="0"/>
          </a:p>
          <a:p>
            <a:pPr>
              <a:spcAft>
                <a:spcPts val="500"/>
              </a:spcAft>
            </a:pPr>
            <a:r>
              <a:rPr lang="en-US" sz="1100" dirty="0">
                <a:solidFill>
                  <a:srgbClr val="1A1A2E"/>
                </a:solidFill>
                <a:latin typeface="Calibri" pitchFamily="34" charset="0"/>
                <a:ea typeface="Calibri" pitchFamily="34" charset="-122"/>
                <a:cs typeface="Calibri" pitchFamily="34" charset="-120"/>
              </a:rPr>
              <a:t>Hospital type auto-recommended</a:t>
            </a:r>
            <a:endParaRPr lang="en-US" sz="1100" dirty="0"/>
          </a:p>
        </p:txBody>
      </p:sp>
      <p:sp>
        <p:nvSpPr>
          <p:cNvPr id="13" name="Shape 11"/>
          <p:cNvSpPr/>
          <p:nvPr/>
        </p:nvSpPr>
        <p:spPr>
          <a:xfrm>
            <a:off x="228600" y="3291840"/>
            <a:ext cx="8686800" cy="1463040"/>
          </a:xfrm>
          <a:prstGeom prst="roundRect">
            <a:avLst>
              <a:gd name="adj" fmla="val 5000"/>
            </a:avLst>
          </a:prstGeom>
          <a:solidFill>
            <a:srgbClr val="FEF2F2"/>
          </a:solidFill>
          <a:ln w="15240">
            <a:solidFill>
              <a:srgbClr val="C0392B"/>
            </a:solidFill>
            <a:prstDash val="solid"/>
          </a:ln>
        </p:spPr>
      </p:sp>
      <p:sp>
        <p:nvSpPr>
          <p:cNvPr id="14" name="Text 12"/>
          <p:cNvSpPr/>
          <p:nvPr/>
        </p:nvSpPr>
        <p:spPr>
          <a:xfrm>
            <a:off x="411480" y="3383280"/>
            <a:ext cx="4572000" cy="365760"/>
          </a:xfrm>
          <a:prstGeom prst="rect">
            <a:avLst/>
          </a:prstGeom>
          <a:noFill/>
          <a:ln/>
        </p:spPr>
        <p:txBody>
          <a:bodyPr wrap="square" lIns="0" tIns="0" rIns="0" bIns="0"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 Emergency Features</a:t>
            </a:r>
            <a:endParaRPr lang="en-US" sz="1400" dirty="0"/>
          </a:p>
        </p:txBody>
      </p:sp>
      <p:sp>
        <p:nvSpPr>
          <p:cNvPr id="15" name="Text 13"/>
          <p:cNvSpPr/>
          <p:nvPr/>
        </p:nvSpPr>
        <p:spPr>
          <a:xfrm>
            <a:off x="411480" y="3749040"/>
            <a:ext cx="8321040" cy="914400"/>
          </a:xfrm>
          <a:prstGeom prst="rect">
            <a:avLst/>
          </a:prstGeom>
          <a:noFill/>
          <a:ln/>
        </p:spPr>
        <p:txBody>
          <a:bodyPr wrap="square" lIns="0" tIns="0" rIns="0" bIns="0" rtlCol="0" anchor="t"/>
          <a:lstStyle/>
          <a:p>
            <a:pPr>
              <a:spcAft>
                <a:spcPts val="400"/>
              </a:spcAft>
            </a:pPr>
            <a:r>
              <a:rPr lang="en-US" sz="1100" dirty="0">
                <a:solidFill>
                  <a:srgbClr val="1A1A2E"/>
                </a:solidFill>
                <a:latin typeface="Calibri" pitchFamily="34" charset="0"/>
                <a:ea typeface="Calibri" pitchFamily="34" charset="-122"/>
                <a:cs typeface="Calibri" pitchFamily="34" charset="-120"/>
              </a:rPr>
              <a:t>📞 One-tap ambulance call — opens phone dialler with 108 / 112</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 Disease-specific hospital type recommendation (e.g. Dermatology for skin, Pulmonary for Asthma)</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 OpenStreetMap hospital locator — works WITHOUT Google Maps or internet</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 Condition-specific first-aid instructions shown while waiting for ambulance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Module 1: Symptom Analyzer (NLP + ML)</a:t>
            </a:r>
            <a:endParaRPr lang="en-US" sz="2800" dirty="0"/>
          </a:p>
        </p:txBody>
      </p:sp>
      <p:sp>
        <p:nvSpPr>
          <p:cNvPr id="4" name="Shape 2"/>
          <p:cNvSpPr/>
          <p:nvPr/>
        </p:nvSpPr>
        <p:spPr>
          <a:xfrm>
            <a:off x="182880" y="777240"/>
            <a:ext cx="1572768" cy="1371600"/>
          </a:xfrm>
          <a:prstGeom prst="roundRect">
            <a:avLst>
              <a:gd name="adj" fmla="val 5333"/>
            </a:avLst>
          </a:prstGeom>
          <a:solidFill>
            <a:srgbClr val="EFF6FF"/>
          </a:solidFill>
          <a:ln w="15240">
            <a:solidFill>
              <a:srgbClr val="1D4ED8"/>
            </a:solidFill>
            <a:prstDash val="solid"/>
          </a:ln>
        </p:spPr>
      </p:sp>
      <p:sp>
        <p:nvSpPr>
          <p:cNvPr id="5" name="Text 3"/>
          <p:cNvSpPr/>
          <p:nvPr/>
        </p:nvSpPr>
        <p:spPr>
          <a:xfrm>
            <a:off x="256032" y="850392"/>
            <a:ext cx="1426464" cy="347472"/>
          </a:xfrm>
          <a:prstGeom prst="rect">
            <a:avLst/>
          </a:prstGeom>
          <a:noFill/>
          <a:ln/>
        </p:spPr>
        <p:txBody>
          <a:bodyPr wrap="square" lIns="0" tIns="0" rIns="0" bIns="0" rtlCol="0" anchor="ctr"/>
          <a:lstStyle/>
          <a:p>
            <a:pPr indent="0" marL="0">
              <a:buNone/>
            </a:pPr>
            <a:r>
              <a:rPr lang="en-US" sz="1100" b="1" dirty="0">
                <a:solidFill>
                  <a:srgbClr val="1D4ED8"/>
                </a:solidFill>
                <a:latin typeface="Calibri" pitchFamily="34" charset="0"/>
                <a:ea typeface="Calibri" pitchFamily="34" charset="-122"/>
                <a:cs typeface="Calibri" pitchFamily="34" charset="-120"/>
              </a:rPr>
              <a:t>Free-text input</a:t>
            </a:r>
            <a:endParaRPr lang="en-US" sz="1100" dirty="0"/>
          </a:p>
        </p:txBody>
      </p:sp>
      <p:sp>
        <p:nvSpPr>
          <p:cNvPr id="6" name="Text 4"/>
          <p:cNvSpPr/>
          <p:nvPr/>
        </p:nvSpPr>
        <p:spPr>
          <a:xfrm>
            <a:off x="256032" y="1207008"/>
            <a:ext cx="1426464" cy="640080"/>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"fever, body pain</a:t>
            </a:r>
            <a:endParaRPr lang="en-US" sz="1000" dirty="0"/>
          </a:p>
          <a:p>
            <a:pPr indent="0" marL="0">
              <a:buNone/>
            </a:pPr>
            <a:r>
              <a:rPr lang="en-US" sz="1000" dirty="0">
                <a:solidFill>
                  <a:srgbClr val="1A1A2E"/>
                </a:solidFill>
                <a:latin typeface="Calibri" pitchFamily="34" charset="0"/>
                <a:ea typeface="Calibri" pitchFamily="34" charset="-122"/>
                <a:cs typeface="Calibri" pitchFamily="34" charset="-120"/>
              </a:rPr>
              <a:t>for 2 days"</a:t>
            </a:r>
            <a:endParaRPr lang="en-US" sz="1000" dirty="0"/>
          </a:p>
        </p:txBody>
      </p:sp>
      <p:sp>
        <p:nvSpPr>
          <p:cNvPr id="7" name="Text 5"/>
          <p:cNvSpPr/>
          <p:nvPr/>
        </p:nvSpPr>
        <p:spPr>
          <a:xfrm>
            <a:off x="1755648" y="1234440"/>
            <a:ext cx="201168" cy="32004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1938528" y="777240"/>
            <a:ext cx="1572768" cy="1371600"/>
          </a:xfrm>
          <a:prstGeom prst="roundRect">
            <a:avLst>
              <a:gd name="adj" fmla="val 5333"/>
            </a:avLst>
          </a:prstGeom>
          <a:solidFill>
            <a:srgbClr val="F5F3FF"/>
          </a:solidFill>
          <a:ln w="15240">
            <a:solidFill>
              <a:srgbClr val="7C3AED"/>
            </a:solidFill>
            <a:prstDash val="solid"/>
          </a:ln>
        </p:spPr>
      </p:sp>
      <p:sp>
        <p:nvSpPr>
          <p:cNvPr id="9" name="Text 7"/>
          <p:cNvSpPr/>
          <p:nvPr/>
        </p:nvSpPr>
        <p:spPr>
          <a:xfrm>
            <a:off x="2011680" y="850392"/>
            <a:ext cx="1426464" cy="347472"/>
          </a:xfrm>
          <a:prstGeom prst="rect">
            <a:avLst/>
          </a:prstGeom>
          <a:noFill/>
          <a:ln/>
        </p:spPr>
        <p:txBody>
          <a:bodyPr wrap="square" lIns="0" tIns="0" rIns="0" bIns="0" rtlCol="0" anchor="ctr"/>
          <a:lstStyle/>
          <a:p>
            <a:pPr indent="0" marL="0">
              <a:buNone/>
            </a:pPr>
            <a:r>
              <a:rPr lang="en-US" sz="1100" b="1" dirty="0">
                <a:solidFill>
                  <a:srgbClr val="7C3AED"/>
                </a:solidFill>
                <a:latin typeface="Calibri" pitchFamily="34" charset="0"/>
                <a:ea typeface="Calibri" pitchFamily="34" charset="-122"/>
                <a:cs typeface="Calibri" pitchFamily="34" charset="-120"/>
              </a:rPr>
              <a:t>NLP layer</a:t>
            </a:r>
            <a:endParaRPr lang="en-US" sz="1100" dirty="0"/>
          </a:p>
        </p:txBody>
      </p:sp>
      <p:sp>
        <p:nvSpPr>
          <p:cNvPr id="10" name="Text 8"/>
          <p:cNvSpPr/>
          <p:nvPr/>
        </p:nvSpPr>
        <p:spPr>
          <a:xfrm>
            <a:off x="2011680" y="1207008"/>
            <a:ext cx="1426464" cy="640080"/>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Keyword / synonym</a:t>
            </a:r>
            <a:endParaRPr lang="en-US" sz="1000" dirty="0"/>
          </a:p>
          <a:p>
            <a:pPr indent="0" marL="0">
              <a:buNone/>
            </a:pPr>
            <a:r>
              <a:rPr lang="en-US" sz="1000" dirty="0">
                <a:solidFill>
                  <a:srgbClr val="1A1A2E"/>
                </a:solidFill>
                <a:latin typeface="Calibri" pitchFamily="34" charset="0"/>
                <a:ea typeface="Calibri" pitchFamily="34" charset="-122"/>
                <a:cs typeface="Calibri" pitchFamily="34" charset="-120"/>
              </a:rPr>
              <a:t>extraction</a:t>
            </a:r>
            <a:endParaRPr lang="en-US" sz="1000" dirty="0"/>
          </a:p>
        </p:txBody>
      </p:sp>
      <p:sp>
        <p:nvSpPr>
          <p:cNvPr id="11" name="Text 9"/>
          <p:cNvSpPr/>
          <p:nvPr/>
        </p:nvSpPr>
        <p:spPr>
          <a:xfrm>
            <a:off x="3511296" y="1234440"/>
            <a:ext cx="201168" cy="32004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3694176" y="777240"/>
            <a:ext cx="1572768" cy="1371600"/>
          </a:xfrm>
          <a:prstGeom prst="roundRect">
            <a:avLst>
              <a:gd name="adj" fmla="val 5333"/>
            </a:avLst>
          </a:prstGeom>
          <a:solidFill>
            <a:srgbClr val="E0F2FE"/>
          </a:solidFill>
          <a:ln w="15240">
            <a:solidFill>
              <a:srgbClr val="0F766E"/>
            </a:solidFill>
            <a:prstDash val="solid"/>
          </a:ln>
        </p:spPr>
      </p:sp>
      <p:sp>
        <p:nvSpPr>
          <p:cNvPr id="13" name="Text 11"/>
          <p:cNvSpPr/>
          <p:nvPr/>
        </p:nvSpPr>
        <p:spPr>
          <a:xfrm>
            <a:off x="3767328" y="850392"/>
            <a:ext cx="1426464" cy="347472"/>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Symptom vector</a:t>
            </a:r>
            <a:endParaRPr lang="en-US" sz="1100" dirty="0"/>
          </a:p>
        </p:txBody>
      </p:sp>
      <p:sp>
        <p:nvSpPr>
          <p:cNvPr id="14" name="Text 12"/>
          <p:cNvSpPr/>
          <p:nvPr/>
        </p:nvSpPr>
        <p:spPr>
          <a:xfrm>
            <a:off x="3767328" y="1207008"/>
            <a:ext cx="1426464" cy="640080"/>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68-feature binary</a:t>
            </a:r>
            <a:endParaRPr lang="en-US" sz="1000" dirty="0"/>
          </a:p>
          <a:p>
            <a:pPr indent="0" marL="0">
              <a:buNone/>
            </a:pPr>
            <a:r>
              <a:rPr lang="en-US" sz="1000" dirty="0">
                <a:solidFill>
                  <a:srgbClr val="1A1A2E"/>
                </a:solidFill>
                <a:latin typeface="Calibri" pitchFamily="34" charset="0"/>
                <a:ea typeface="Calibri" pitchFamily="34" charset="-122"/>
                <a:cs typeface="Calibri" pitchFamily="34" charset="-120"/>
              </a:rPr>
              <a:t>vector</a:t>
            </a:r>
            <a:endParaRPr lang="en-US" sz="1000" dirty="0"/>
          </a:p>
        </p:txBody>
      </p:sp>
      <p:sp>
        <p:nvSpPr>
          <p:cNvPr id="15" name="Text 13"/>
          <p:cNvSpPr/>
          <p:nvPr/>
        </p:nvSpPr>
        <p:spPr>
          <a:xfrm>
            <a:off x="5266944" y="1234440"/>
            <a:ext cx="201168" cy="32004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449824" y="777240"/>
            <a:ext cx="1572768" cy="1371600"/>
          </a:xfrm>
          <a:prstGeom prst="roundRect">
            <a:avLst>
              <a:gd name="adj" fmla="val 5333"/>
            </a:avLst>
          </a:prstGeom>
          <a:solidFill>
            <a:srgbClr val="E8F5EE"/>
          </a:solidFill>
          <a:ln w="15240">
            <a:solidFill>
              <a:srgbClr val="1B6B3A"/>
            </a:solidFill>
            <a:prstDash val="solid"/>
          </a:ln>
        </p:spPr>
      </p:sp>
      <p:sp>
        <p:nvSpPr>
          <p:cNvPr id="17" name="Text 15"/>
          <p:cNvSpPr/>
          <p:nvPr/>
        </p:nvSpPr>
        <p:spPr>
          <a:xfrm>
            <a:off x="5522976" y="850392"/>
            <a:ext cx="1426464" cy="347472"/>
          </a:xfrm>
          <a:prstGeom prst="rect">
            <a:avLst/>
          </a:prstGeom>
          <a:noFill/>
          <a:ln/>
        </p:spPr>
        <p:txBody>
          <a:bodyPr wrap="square" lIns="0" tIns="0" rIns="0" bIns="0" rtlCol="0" anchor="ctr"/>
          <a:lstStyle/>
          <a:p>
            <a:pPr indent="0" marL="0">
              <a:buNone/>
            </a:pPr>
            <a:r>
              <a:rPr lang="en-US" sz="1100" b="1" dirty="0">
                <a:solidFill>
                  <a:srgbClr val="1B6B3A"/>
                </a:solidFill>
                <a:latin typeface="Calibri" pitchFamily="34" charset="0"/>
                <a:ea typeface="Calibri" pitchFamily="34" charset="-122"/>
                <a:cs typeface="Calibri" pitchFamily="34" charset="-120"/>
              </a:rPr>
              <a:t>Random Forest</a:t>
            </a:r>
            <a:endParaRPr lang="en-US" sz="1100" dirty="0"/>
          </a:p>
        </p:txBody>
      </p:sp>
      <p:sp>
        <p:nvSpPr>
          <p:cNvPr id="18" name="Text 16"/>
          <p:cNvSpPr/>
          <p:nvPr/>
        </p:nvSpPr>
        <p:spPr>
          <a:xfrm>
            <a:off x="5522976" y="1207008"/>
            <a:ext cx="1426464" cy="640080"/>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200 trees,</a:t>
            </a:r>
            <a:endParaRPr lang="en-US" sz="1000" dirty="0"/>
          </a:p>
          <a:p>
            <a:pPr indent="0" marL="0">
              <a:buNone/>
            </a:pPr>
            <a:r>
              <a:rPr lang="en-US" sz="1000" dirty="0">
                <a:solidFill>
                  <a:srgbClr val="1A1A2E"/>
                </a:solidFill>
                <a:latin typeface="Calibri" pitchFamily="34" charset="0"/>
                <a:ea typeface="Calibri" pitchFamily="34" charset="-122"/>
                <a:cs typeface="Calibri" pitchFamily="34" charset="-120"/>
              </a:rPr>
              <a:t>max_depth=14</a:t>
            </a:r>
            <a:endParaRPr lang="en-US" sz="1000" dirty="0"/>
          </a:p>
        </p:txBody>
      </p:sp>
      <p:sp>
        <p:nvSpPr>
          <p:cNvPr id="19" name="Text 17"/>
          <p:cNvSpPr/>
          <p:nvPr/>
        </p:nvSpPr>
        <p:spPr>
          <a:xfrm>
            <a:off x="7022592" y="1234440"/>
            <a:ext cx="201168" cy="320040"/>
          </a:xfrm>
          <a:prstGeom prst="rect">
            <a:avLst/>
          </a:prstGeom>
          <a:noFill/>
          <a:ln/>
        </p:spPr>
        <p:txBody>
          <a:bodyPr wrap="square" lIns="0" tIns="0" rIns="0" bIns="0" rtlCol="0" anchor="ctr"/>
          <a:lstStyle/>
          <a:p>
            <a:pPr indent="0" marL="0">
              <a:buNone/>
            </a:pPr>
            <a:r>
              <a:rPr lang="en-US" sz="1800" dirty="0">
                <a:solidFill>
                  <a:srgbClr val="6B7280"/>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7205472" y="777240"/>
            <a:ext cx="1572768" cy="1371600"/>
          </a:xfrm>
          <a:prstGeom prst="roundRect">
            <a:avLst>
              <a:gd name="adj" fmla="val 5333"/>
            </a:avLst>
          </a:prstGeom>
          <a:solidFill>
            <a:srgbClr val="FEF2F2"/>
          </a:solidFill>
          <a:ln w="15240">
            <a:solidFill>
              <a:srgbClr val="C0392B"/>
            </a:solidFill>
            <a:prstDash val="solid"/>
          </a:ln>
        </p:spPr>
      </p:sp>
      <p:sp>
        <p:nvSpPr>
          <p:cNvPr id="21" name="Text 19"/>
          <p:cNvSpPr/>
          <p:nvPr/>
        </p:nvSpPr>
        <p:spPr>
          <a:xfrm>
            <a:off x="7278624" y="850392"/>
            <a:ext cx="1426464" cy="347472"/>
          </a:xfrm>
          <a:prstGeom prst="rect">
            <a:avLst/>
          </a:prstGeom>
          <a:noFill/>
          <a:ln/>
        </p:spPr>
        <p:txBody>
          <a:bodyPr wrap="square" lIns="0" tIns="0" rIns="0" bIns="0"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Output</a:t>
            </a:r>
            <a:endParaRPr lang="en-US" sz="1100" dirty="0"/>
          </a:p>
        </p:txBody>
      </p:sp>
      <p:sp>
        <p:nvSpPr>
          <p:cNvPr id="22" name="Text 20"/>
          <p:cNvSpPr/>
          <p:nvPr/>
        </p:nvSpPr>
        <p:spPr>
          <a:xfrm>
            <a:off x="7278624" y="1207008"/>
            <a:ext cx="1426464" cy="640080"/>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Disease + Risk</a:t>
            </a:r>
            <a:endParaRPr lang="en-US" sz="1000" dirty="0"/>
          </a:p>
          <a:p>
            <a:pPr indent="0" marL="0">
              <a:buNone/>
            </a:pPr>
            <a:r>
              <a:rPr lang="en-US" sz="1000" dirty="0">
                <a:solidFill>
                  <a:srgbClr val="1A1A2E"/>
                </a:solidFill>
                <a:latin typeface="Calibri" pitchFamily="34" charset="0"/>
                <a:ea typeface="Calibri" pitchFamily="34" charset="-122"/>
                <a:cs typeface="Calibri" pitchFamily="34" charset="-120"/>
              </a:rPr>
              <a:t>+ Probability</a:t>
            </a:r>
            <a:endParaRPr lang="en-US" sz="1000" dirty="0"/>
          </a:p>
        </p:txBody>
      </p:sp>
      <p:sp>
        <p:nvSpPr>
          <p:cNvPr id="23" name="Shape 21"/>
          <p:cNvSpPr/>
          <p:nvPr/>
        </p:nvSpPr>
        <p:spPr>
          <a:xfrm>
            <a:off x="182880" y="2331720"/>
            <a:ext cx="1572768" cy="777240"/>
          </a:xfrm>
          <a:prstGeom prst="roundRect">
            <a:avLst>
              <a:gd name="adj" fmla="val 9412"/>
            </a:avLst>
          </a:prstGeom>
          <a:solidFill>
            <a:srgbClr val="E8F5EE"/>
          </a:solidFill>
          <a:ln w="15240">
            <a:solidFill>
              <a:srgbClr val="2E8B57"/>
            </a:solidFill>
            <a:prstDash val="solid"/>
          </a:ln>
        </p:spPr>
      </p:sp>
      <p:sp>
        <p:nvSpPr>
          <p:cNvPr id="24" name="Text 22"/>
          <p:cNvSpPr/>
          <p:nvPr/>
        </p:nvSpPr>
        <p:spPr>
          <a:xfrm>
            <a:off x="274320" y="2377440"/>
            <a:ext cx="1389888" cy="384048"/>
          </a:xfrm>
          <a:prstGeom prst="rect">
            <a:avLst/>
          </a:prstGeom>
          <a:noFill/>
          <a:ln/>
        </p:spPr>
        <p:txBody>
          <a:bodyPr wrap="square" lIns="0" tIns="0" rIns="0" bIns="0" rtlCol="0" anchor="ctr"/>
          <a:lstStyle/>
          <a:p>
            <a:pPr algn="ctr" indent="0" marL="0">
              <a:buNone/>
            </a:pPr>
            <a:r>
              <a:rPr lang="en-US" sz="2000" b="1" dirty="0">
                <a:solidFill>
                  <a:srgbClr val="1B6B3A"/>
                </a:solidFill>
                <a:latin typeface="Calibri" pitchFamily="34" charset="0"/>
                <a:ea typeface="Calibri" pitchFamily="34" charset="-122"/>
                <a:cs typeface="Calibri" pitchFamily="34" charset="-120"/>
              </a:rPr>
              <a:t>1,890</a:t>
            </a:r>
            <a:endParaRPr lang="en-US" sz="2000" dirty="0"/>
          </a:p>
        </p:txBody>
      </p:sp>
      <p:sp>
        <p:nvSpPr>
          <p:cNvPr id="25" name="Text 23"/>
          <p:cNvSpPr/>
          <p:nvPr/>
        </p:nvSpPr>
        <p:spPr>
          <a:xfrm>
            <a:off x="274320" y="2743200"/>
            <a:ext cx="1389888"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Patient records</a:t>
            </a:r>
            <a:endParaRPr lang="en-US" sz="1000" dirty="0"/>
          </a:p>
        </p:txBody>
      </p:sp>
      <p:sp>
        <p:nvSpPr>
          <p:cNvPr id="26" name="Shape 24"/>
          <p:cNvSpPr/>
          <p:nvPr/>
        </p:nvSpPr>
        <p:spPr>
          <a:xfrm>
            <a:off x="1938528" y="2331720"/>
            <a:ext cx="1572768" cy="777240"/>
          </a:xfrm>
          <a:prstGeom prst="roundRect">
            <a:avLst>
              <a:gd name="adj" fmla="val 9412"/>
            </a:avLst>
          </a:prstGeom>
          <a:solidFill>
            <a:srgbClr val="E8F5EE"/>
          </a:solidFill>
          <a:ln w="15240">
            <a:solidFill>
              <a:srgbClr val="2E8B57"/>
            </a:solidFill>
            <a:prstDash val="solid"/>
          </a:ln>
        </p:spPr>
      </p:sp>
      <p:sp>
        <p:nvSpPr>
          <p:cNvPr id="27" name="Text 25"/>
          <p:cNvSpPr/>
          <p:nvPr/>
        </p:nvSpPr>
        <p:spPr>
          <a:xfrm>
            <a:off x="2029968" y="2377440"/>
            <a:ext cx="1389888" cy="384048"/>
          </a:xfrm>
          <a:prstGeom prst="rect">
            <a:avLst/>
          </a:prstGeom>
          <a:noFill/>
          <a:ln/>
        </p:spPr>
        <p:txBody>
          <a:bodyPr wrap="square" lIns="0" tIns="0" rIns="0" bIns="0" rtlCol="0" anchor="ctr"/>
          <a:lstStyle/>
          <a:p>
            <a:pPr algn="ctr" indent="0" marL="0">
              <a:buNone/>
            </a:pPr>
            <a:r>
              <a:rPr lang="en-US" sz="2000" b="1" dirty="0">
                <a:solidFill>
                  <a:srgbClr val="1B6B3A"/>
                </a:solidFill>
                <a:latin typeface="Calibri" pitchFamily="34" charset="0"/>
                <a:ea typeface="Calibri" pitchFamily="34" charset="-122"/>
                <a:cs typeface="Calibri" pitchFamily="34" charset="-120"/>
              </a:rPr>
              <a:t>21</a:t>
            </a:r>
            <a:endParaRPr lang="en-US" sz="2000" dirty="0"/>
          </a:p>
        </p:txBody>
      </p:sp>
      <p:sp>
        <p:nvSpPr>
          <p:cNvPr id="28" name="Text 26"/>
          <p:cNvSpPr/>
          <p:nvPr/>
        </p:nvSpPr>
        <p:spPr>
          <a:xfrm>
            <a:off x="2029968" y="2743200"/>
            <a:ext cx="1389888"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Diseases covered</a:t>
            </a:r>
            <a:endParaRPr lang="en-US" sz="1000" dirty="0"/>
          </a:p>
        </p:txBody>
      </p:sp>
      <p:sp>
        <p:nvSpPr>
          <p:cNvPr id="29" name="Shape 27"/>
          <p:cNvSpPr/>
          <p:nvPr/>
        </p:nvSpPr>
        <p:spPr>
          <a:xfrm>
            <a:off x="3694176" y="2331720"/>
            <a:ext cx="1572768" cy="777240"/>
          </a:xfrm>
          <a:prstGeom prst="roundRect">
            <a:avLst>
              <a:gd name="adj" fmla="val 9412"/>
            </a:avLst>
          </a:prstGeom>
          <a:solidFill>
            <a:srgbClr val="E8F5EE"/>
          </a:solidFill>
          <a:ln w="15240">
            <a:solidFill>
              <a:srgbClr val="2E8B57"/>
            </a:solidFill>
            <a:prstDash val="solid"/>
          </a:ln>
        </p:spPr>
      </p:sp>
      <p:sp>
        <p:nvSpPr>
          <p:cNvPr id="30" name="Text 28"/>
          <p:cNvSpPr/>
          <p:nvPr/>
        </p:nvSpPr>
        <p:spPr>
          <a:xfrm>
            <a:off x="3785616" y="2377440"/>
            <a:ext cx="1389888" cy="384048"/>
          </a:xfrm>
          <a:prstGeom prst="rect">
            <a:avLst/>
          </a:prstGeom>
          <a:noFill/>
          <a:ln/>
        </p:spPr>
        <p:txBody>
          <a:bodyPr wrap="square" lIns="0" tIns="0" rIns="0" bIns="0" rtlCol="0" anchor="ctr"/>
          <a:lstStyle/>
          <a:p>
            <a:pPr algn="ctr" indent="0" marL="0">
              <a:buNone/>
            </a:pPr>
            <a:r>
              <a:rPr lang="en-US" sz="2000" b="1" dirty="0">
                <a:solidFill>
                  <a:srgbClr val="1B6B3A"/>
                </a:solidFill>
                <a:latin typeface="Calibri" pitchFamily="34" charset="0"/>
                <a:ea typeface="Calibri" pitchFamily="34" charset="-122"/>
                <a:cs typeface="Calibri" pitchFamily="34" charset="-120"/>
              </a:rPr>
              <a:t>68</a:t>
            </a:r>
            <a:endParaRPr lang="en-US" sz="2000" dirty="0"/>
          </a:p>
        </p:txBody>
      </p:sp>
      <p:sp>
        <p:nvSpPr>
          <p:cNvPr id="31" name="Text 29"/>
          <p:cNvSpPr/>
          <p:nvPr/>
        </p:nvSpPr>
        <p:spPr>
          <a:xfrm>
            <a:off x="3785616" y="2743200"/>
            <a:ext cx="1389888"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Symptom features</a:t>
            </a:r>
            <a:endParaRPr lang="en-US" sz="1000" dirty="0"/>
          </a:p>
        </p:txBody>
      </p:sp>
      <p:sp>
        <p:nvSpPr>
          <p:cNvPr id="32" name="Shape 30"/>
          <p:cNvSpPr/>
          <p:nvPr/>
        </p:nvSpPr>
        <p:spPr>
          <a:xfrm>
            <a:off x="5449824" y="2331720"/>
            <a:ext cx="1572768" cy="777240"/>
          </a:xfrm>
          <a:prstGeom prst="roundRect">
            <a:avLst>
              <a:gd name="adj" fmla="val 9412"/>
            </a:avLst>
          </a:prstGeom>
          <a:solidFill>
            <a:srgbClr val="E8F5EE"/>
          </a:solidFill>
          <a:ln w="15240">
            <a:solidFill>
              <a:srgbClr val="2E8B57"/>
            </a:solidFill>
            <a:prstDash val="solid"/>
          </a:ln>
        </p:spPr>
      </p:sp>
      <p:sp>
        <p:nvSpPr>
          <p:cNvPr id="33" name="Text 31"/>
          <p:cNvSpPr/>
          <p:nvPr/>
        </p:nvSpPr>
        <p:spPr>
          <a:xfrm>
            <a:off x="5541264" y="2377440"/>
            <a:ext cx="1389888" cy="384048"/>
          </a:xfrm>
          <a:prstGeom prst="rect">
            <a:avLst/>
          </a:prstGeom>
          <a:noFill/>
          <a:ln/>
        </p:spPr>
        <p:txBody>
          <a:bodyPr wrap="square" lIns="0" tIns="0" rIns="0" bIns="0" rtlCol="0" anchor="ctr"/>
          <a:lstStyle/>
          <a:p>
            <a:pPr algn="ctr" indent="0" marL="0">
              <a:buNone/>
            </a:pPr>
            <a:r>
              <a:rPr lang="en-US" sz="2000" b="1" dirty="0">
                <a:solidFill>
                  <a:srgbClr val="1B6B3A"/>
                </a:solidFill>
                <a:latin typeface="Calibri" pitchFamily="34" charset="0"/>
                <a:ea typeface="Calibri" pitchFamily="34" charset="-122"/>
                <a:cs typeface="Calibri" pitchFamily="34" charset="-120"/>
              </a:rPr>
              <a:t>98.7%</a:t>
            </a:r>
            <a:endParaRPr lang="en-US" sz="2000" dirty="0"/>
          </a:p>
        </p:txBody>
      </p:sp>
      <p:sp>
        <p:nvSpPr>
          <p:cNvPr id="34" name="Text 32"/>
          <p:cNvSpPr/>
          <p:nvPr/>
        </p:nvSpPr>
        <p:spPr>
          <a:xfrm>
            <a:off x="5541264" y="2743200"/>
            <a:ext cx="1389888"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Disease accuracy</a:t>
            </a:r>
            <a:endParaRPr lang="en-US" sz="1000" dirty="0"/>
          </a:p>
        </p:txBody>
      </p:sp>
      <p:sp>
        <p:nvSpPr>
          <p:cNvPr id="35" name="Shape 33"/>
          <p:cNvSpPr/>
          <p:nvPr/>
        </p:nvSpPr>
        <p:spPr>
          <a:xfrm>
            <a:off x="7205472" y="2331720"/>
            <a:ext cx="1572768" cy="777240"/>
          </a:xfrm>
          <a:prstGeom prst="roundRect">
            <a:avLst>
              <a:gd name="adj" fmla="val 9412"/>
            </a:avLst>
          </a:prstGeom>
          <a:solidFill>
            <a:srgbClr val="E8F5EE"/>
          </a:solidFill>
          <a:ln w="15240">
            <a:solidFill>
              <a:srgbClr val="2E8B57"/>
            </a:solidFill>
            <a:prstDash val="solid"/>
          </a:ln>
        </p:spPr>
      </p:sp>
      <p:sp>
        <p:nvSpPr>
          <p:cNvPr id="36" name="Text 34"/>
          <p:cNvSpPr/>
          <p:nvPr/>
        </p:nvSpPr>
        <p:spPr>
          <a:xfrm>
            <a:off x="7296912" y="2377440"/>
            <a:ext cx="1389888" cy="384048"/>
          </a:xfrm>
          <a:prstGeom prst="rect">
            <a:avLst/>
          </a:prstGeom>
          <a:noFill/>
          <a:ln/>
        </p:spPr>
        <p:txBody>
          <a:bodyPr wrap="square" lIns="0" tIns="0" rIns="0" bIns="0" rtlCol="0" anchor="ctr"/>
          <a:lstStyle/>
          <a:p>
            <a:pPr algn="ctr" indent="0" marL="0">
              <a:buNone/>
            </a:pPr>
            <a:r>
              <a:rPr lang="en-US" sz="2000" b="1" dirty="0">
                <a:solidFill>
                  <a:srgbClr val="1B6B3A"/>
                </a:solidFill>
                <a:latin typeface="Calibri" pitchFamily="34" charset="0"/>
                <a:ea typeface="Calibri" pitchFamily="34" charset="-122"/>
                <a:cs typeface="Calibri" pitchFamily="34" charset="-120"/>
              </a:rPr>
              <a:t>97.4%</a:t>
            </a:r>
            <a:endParaRPr lang="en-US" sz="2000" dirty="0"/>
          </a:p>
        </p:txBody>
      </p:sp>
      <p:sp>
        <p:nvSpPr>
          <p:cNvPr id="37" name="Text 35"/>
          <p:cNvSpPr/>
          <p:nvPr/>
        </p:nvSpPr>
        <p:spPr>
          <a:xfrm>
            <a:off x="7296912" y="2743200"/>
            <a:ext cx="1389888"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Risk accuracy</a:t>
            </a:r>
            <a:endParaRPr lang="en-US" sz="1000" dirty="0"/>
          </a:p>
        </p:txBody>
      </p:sp>
      <p:sp>
        <p:nvSpPr>
          <p:cNvPr id="38" name="Shape 36"/>
          <p:cNvSpPr/>
          <p:nvPr/>
        </p:nvSpPr>
        <p:spPr>
          <a:xfrm>
            <a:off x="182880" y="3246120"/>
            <a:ext cx="8778240" cy="1463040"/>
          </a:xfrm>
          <a:prstGeom prst="roundRect">
            <a:avLst>
              <a:gd name="adj" fmla="val 5000"/>
            </a:avLst>
          </a:prstGeom>
          <a:solidFill>
            <a:srgbClr val="F3F4F6"/>
          </a:solidFill>
          <a:ln w="15240">
            <a:solidFill>
              <a:srgbClr val="D1D5DB"/>
            </a:solidFill>
            <a:prstDash val="solid"/>
          </a:ln>
        </p:spPr>
      </p:sp>
      <p:sp>
        <p:nvSpPr>
          <p:cNvPr id="39" name="Text 37"/>
          <p:cNvSpPr/>
          <p:nvPr/>
        </p:nvSpPr>
        <p:spPr>
          <a:xfrm>
            <a:off x="365760" y="3337560"/>
            <a:ext cx="8412480" cy="274320"/>
          </a:xfrm>
          <a:prstGeom prst="rect">
            <a:avLst/>
          </a:prstGeom>
          <a:noFill/>
          <a:ln/>
        </p:spPr>
        <p:txBody>
          <a:bodyPr wrap="square" lIns="0" tIns="0" rIns="0" bIns="0" rtlCol="0" anchor="ctr"/>
          <a:lstStyle/>
          <a:p>
            <a:pPr indent="0" marL="0">
              <a:buNone/>
            </a:pPr>
            <a:r>
              <a:rPr lang="en-US" sz="1100" b="1" dirty="0">
                <a:solidFill>
                  <a:srgbClr val="1A1A2E"/>
                </a:solidFill>
                <a:latin typeface="Calibri" pitchFamily="34" charset="0"/>
                <a:ea typeface="Calibri" pitchFamily="34" charset="-122"/>
                <a:cs typeface="Calibri" pitchFamily="34" charset="-120"/>
              </a:rPr>
              <a:t>21 Diseases Covered:</a:t>
            </a:r>
            <a:endParaRPr lang="en-US" sz="1100" dirty="0"/>
          </a:p>
        </p:txBody>
      </p:sp>
      <p:sp>
        <p:nvSpPr>
          <p:cNvPr id="40" name="Text 38"/>
          <p:cNvSpPr/>
          <p:nvPr/>
        </p:nvSpPr>
        <p:spPr>
          <a:xfrm>
            <a:off x="365760" y="3630168"/>
            <a:ext cx="8412480" cy="960120"/>
          </a:xfrm>
          <a:prstGeom prst="rect">
            <a:avLst/>
          </a:prstGeom>
          <a:noFill/>
          <a:ln/>
        </p:spPr>
        <p:txBody>
          <a:bodyPr wrap="square" lIns="0" tIns="0" rIns="0" bIns="0" rtlCol="0" anchor="t"/>
          <a:lstStyle/>
          <a:p>
            <a:pPr indent="0" marL="0">
              <a:buNone/>
            </a:pPr>
            <a:r>
              <a:rPr lang="en-US" sz="1000" dirty="0">
                <a:solidFill>
                  <a:srgbClr val="1A1A2E"/>
                </a:solidFill>
                <a:latin typeface="Calibri" pitchFamily="34" charset="0"/>
                <a:ea typeface="Calibri" pitchFamily="34" charset="-122"/>
                <a:cs typeface="Calibri" pitchFamily="34" charset="-120"/>
              </a:rPr>
              <a:t>Common Cold  •  Seasonal Flu  •  Dengue  •  Typhoid  •  Pneumonia  •  Asthma  •  Food Poisoning  •  Gastroenteritis  •  Skin Infection  •  Fungal Infection  •  Chickenpox  •  UTI  •  Migraine  •  Allergic Rhinitis  •  Hypertension  •  Diabetes Risk  •  Anemia  •  Anxiety  •  Conjunctivitis  •  Sinusitis  •  Acid Reflux</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Module 2: Image Analysis (Deep Learning CNN)</a:t>
            </a:r>
            <a:endParaRPr lang="en-US" sz="2800" dirty="0"/>
          </a:p>
        </p:txBody>
      </p:sp>
      <p:sp>
        <p:nvSpPr>
          <p:cNvPr id="4" name="Shape 2"/>
          <p:cNvSpPr/>
          <p:nvPr/>
        </p:nvSpPr>
        <p:spPr>
          <a:xfrm>
            <a:off x="182880" y="1188720"/>
            <a:ext cx="822960" cy="822960"/>
          </a:xfrm>
          <a:prstGeom prst="roundRect">
            <a:avLst>
              <a:gd name="adj" fmla="val 5556"/>
            </a:avLst>
          </a:prstGeom>
          <a:solidFill>
            <a:srgbClr val="1D4ED8"/>
          </a:solidFill>
          <a:ln w="12700">
            <a:solidFill>
              <a:srgbClr val="1D4ED8"/>
            </a:solidFill>
            <a:prstDash val="solid"/>
          </a:ln>
        </p:spPr>
      </p:sp>
      <p:sp>
        <p:nvSpPr>
          <p:cNvPr id="5" name="Text 3"/>
          <p:cNvSpPr/>
          <p:nvPr/>
        </p:nvSpPr>
        <p:spPr>
          <a:xfrm>
            <a:off x="182880" y="1188720"/>
            <a:ext cx="822960" cy="82296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Input</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128×128</a:t>
            </a:r>
            <a:endParaRPr lang="en-US" sz="850" dirty="0"/>
          </a:p>
        </p:txBody>
      </p:sp>
      <p:sp>
        <p:nvSpPr>
          <p:cNvPr id="6" name="Text 4"/>
          <p:cNvSpPr/>
          <p:nvPr/>
        </p:nvSpPr>
        <p:spPr>
          <a:xfrm>
            <a:off x="1005840"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1152144" y="1280160"/>
            <a:ext cx="822960" cy="640080"/>
          </a:xfrm>
          <a:prstGeom prst="roundRect">
            <a:avLst>
              <a:gd name="adj" fmla="val 7143"/>
            </a:avLst>
          </a:prstGeom>
          <a:solidFill>
            <a:srgbClr val="0F766E"/>
          </a:solidFill>
          <a:ln w="12700">
            <a:solidFill>
              <a:srgbClr val="0F766E"/>
            </a:solidFill>
            <a:prstDash val="solid"/>
          </a:ln>
        </p:spPr>
      </p:sp>
      <p:sp>
        <p:nvSpPr>
          <p:cNvPr id="8" name="Text 6"/>
          <p:cNvSpPr/>
          <p:nvPr/>
        </p:nvSpPr>
        <p:spPr>
          <a:xfrm>
            <a:off x="1152144" y="1280160"/>
            <a:ext cx="822960" cy="6400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Conv2D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8 filters</a:t>
            </a:r>
            <a:endParaRPr lang="en-US" sz="850" dirty="0"/>
          </a:p>
        </p:txBody>
      </p:sp>
      <p:sp>
        <p:nvSpPr>
          <p:cNvPr id="9" name="Text 7"/>
          <p:cNvSpPr/>
          <p:nvPr/>
        </p:nvSpPr>
        <p:spPr>
          <a:xfrm>
            <a:off x="1975104"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121408" y="1280160"/>
            <a:ext cx="822960" cy="640080"/>
          </a:xfrm>
          <a:prstGeom prst="roundRect">
            <a:avLst>
              <a:gd name="adj" fmla="val 7143"/>
            </a:avLst>
          </a:prstGeom>
          <a:solidFill>
            <a:srgbClr val="6B7280"/>
          </a:solidFill>
          <a:ln w="12700">
            <a:solidFill>
              <a:srgbClr val="6B7280"/>
            </a:solidFill>
            <a:prstDash val="solid"/>
          </a:ln>
        </p:spPr>
      </p:sp>
      <p:sp>
        <p:nvSpPr>
          <p:cNvPr id="11" name="Text 9"/>
          <p:cNvSpPr/>
          <p:nvPr/>
        </p:nvSpPr>
        <p:spPr>
          <a:xfrm>
            <a:off x="2121408" y="1280160"/>
            <a:ext cx="822960" cy="6400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MaxPool</a:t>
            </a:r>
            <a:endParaRPr lang="en-US" sz="850" dirty="0"/>
          </a:p>
        </p:txBody>
      </p:sp>
      <p:sp>
        <p:nvSpPr>
          <p:cNvPr id="12" name="Text 10"/>
          <p:cNvSpPr/>
          <p:nvPr/>
        </p:nvSpPr>
        <p:spPr>
          <a:xfrm>
            <a:off x="2944368"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3090672" y="1280160"/>
            <a:ext cx="822960" cy="640080"/>
          </a:xfrm>
          <a:prstGeom prst="roundRect">
            <a:avLst>
              <a:gd name="adj" fmla="val 7143"/>
            </a:avLst>
          </a:prstGeom>
          <a:solidFill>
            <a:srgbClr val="0F766E"/>
          </a:solidFill>
          <a:ln w="12700">
            <a:solidFill>
              <a:srgbClr val="0F766E"/>
            </a:solidFill>
            <a:prstDash val="solid"/>
          </a:ln>
        </p:spPr>
      </p:sp>
      <p:sp>
        <p:nvSpPr>
          <p:cNvPr id="14" name="Text 12"/>
          <p:cNvSpPr/>
          <p:nvPr/>
        </p:nvSpPr>
        <p:spPr>
          <a:xfrm>
            <a:off x="3090672" y="1280160"/>
            <a:ext cx="822960" cy="6400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Conv2D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16 filters</a:t>
            </a:r>
            <a:endParaRPr lang="en-US" sz="850" dirty="0"/>
          </a:p>
        </p:txBody>
      </p:sp>
      <p:sp>
        <p:nvSpPr>
          <p:cNvPr id="15" name="Text 13"/>
          <p:cNvSpPr/>
          <p:nvPr/>
        </p:nvSpPr>
        <p:spPr>
          <a:xfrm>
            <a:off x="3913632"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4059936" y="1280160"/>
            <a:ext cx="822960" cy="640080"/>
          </a:xfrm>
          <a:prstGeom prst="roundRect">
            <a:avLst>
              <a:gd name="adj" fmla="val 7143"/>
            </a:avLst>
          </a:prstGeom>
          <a:solidFill>
            <a:srgbClr val="6B7280"/>
          </a:solidFill>
          <a:ln w="12700">
            <a:solidFill>
              <a:srgbClr val="6B7280"/>
            </a:solidFill>
            <a:prstDash val="solid"/>
          </a:ln>
        </p:spPr>
      </p:sp>
      <p:sp>
        <p:nvSpPr>
          <p:cNvPr id="17" name="Text 15"/>
          <p:cNvSpPr/>
          <p:nvPr/>
        </p:nvSpPr>
        <p:spPr>
          <a:xfrm>
            <a:off x="4059936" y="1280160"/>
            <a:ext cx="822960" cy="6400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MaxPool</a:t>
            </a:r>
            <a:endParaRPr lang="en-US" sz="850" dirty="0"/>
          </a:p>
        </p:txBody>
      </p:sp>
      <p:sp>
        <p:nvSpPr>
          <p:cNvPr id="18" name="Text 16"/>
          <p:cNvSpPr/>
          <p:nvPr/>
        </p:nvSpPr>
        <p:spPr>
          <a:xfrm>
            <a:off x="4882896"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9" name="Shape 17"/>
          <p:cNvSpPr/>
          <p:nvPr/>
        </p:nvSpPr>
        <p:spPr>
          <a:xfrm>
            <a:off x="5029200" y="1280160"/>
            <a:ext cx="822960" cy="640080"/>
          </a:xfrm>
          <a:prstGeom prst="roundRect">
            <a:avLst>
              <a:gd name="adj" fmla="val 7143"/>
            </a:avLst>
          </a:prstGeom>
          <a:solidFill>
            <a:srgbClr val="0F766E"/>
          </a:solidFill>
          <a:ln w="12700">
            <a:solidFill>
              <a:srgbClr val="0F766E"/>
            </a:solidFill>
            <a:prstDash val="solid"/>
          </a:ln>
        </p:spPr>
      </p:sp>
      <p:sp>
        <p:nvSpPr>
          <p:cNvPr id="20" name="Text 18"/>
          <p:cNvSpPr/>
          <p:nvPr/>
        </p:nvSpPr>
        <p:spPr>
          <a:xfrm>
            <a:off x="5029200" y="1280160"/>
            <a:ext cx="822960" cy="6400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Conv2D</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32 filters</a:t>
            </a:r>
            <a:endParaRPr lang="en-US" sz="850" dirty="0"/>
          </a:p>
        </p:txBody>
      </p:sp>
      <p:sp>
        <p:nvSpPr>
          <p:cNvPr id="21" name="Text 19"/>
          <p:cNvSpPr/>
          <p:nvPr/>
        </p:nvSpPr>
        <p:spPr>
          <a:xfrm>
            <a:off x="5852160"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22" name="Shape 20"/>
          <p:cNvSpPr/>
          <p:nvPr/>
        </p:nvSpPr>
        <p:spPr>
          <a:xfrm>
            <a:off x="5998464" y="1280160"/>
            <a:ext cx="822960" cy="640080"/>
          </a:xfrm>
          <a:prstGeom prst="roundRect">
            <a:avLst>
              <a:gd name="adj" fmla="val 7143"/>
            </a:avLst>
          </a:prstGeom>
          <a:solidFill>
            <a:srgbClr val="6B7280"/>
          </a:solidFill>
          <a:ln w="12700">
            <a:solidFill>
              <a:srgbClr val="6B7280"/>
            </a:solidFill>
            <a:prstDash val="solid"/>
          </a:ln>
        </p:spPr>
      </p:sp>
      <p:sp>
        <p:nvSpPr>
          <p:cNvPr id="23" name="Text 21"/>
          <p:cNvSpPr/>
          <p:nvPr/>
        </p:nvSpPr>
        <p:spPr>
          <a:xfrm>
            <a:off x="5998464" y="1280160"/>
            <a:ext cx="822960" cy="64008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MaxPool</a:t>
            </a:r>
            <a:endParaRPr lang="en-US" sz="850" dirty="0"/>
          </a:p>
        </p:txBody>
      </p:sp>
      <p:sp>
        <p:nvSpPr>
          <p:cNvPr id="24" name="Text 22"/>
          <p:cNvSpPr/>
          <p:nvPr/>
        </p:nvSpPr>
        <p:spPr>
          <a:xfrm>
            <a:off x="6821424"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6967728" y="1371600"/>
            <a:ext cx="822960" cy="457200"/>
          </a:xfrm>
          <a:prstGeom prst="roundRect">
            <a:avLst>
              <a:gd name="adj" fmla="val 10000"/>
            </a:avLst>
          </a:prstGeom>
          <a:solidFill>
            <a:srgbClr val="7C3AED"/>
          </a:solidFill>
          <a:ln w="12700">
            <a:solidFill>
              <a:srgbClr val="7C3AED"/>
            </a:solidFill>
            <a:prstDash val="solid"/>
          </a:ln>
        </p:spPr>
      </p:sp>
      <p:sp>
        <p:nvSpPr>
          <p:cNvPr id="26" name="Text 24"/>
          <p:cNvSpPr/>
          <p:nvPr/>
        </p:nvSpPr>
        <p:spPr>
          <a:xfrm>
            <a:off x="6967728" y="1371600"/>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GAP +</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Dropout</a:t>
            </a:r>
            <a:endParaRPr lang="en-US" sz="850" dirty="0"/>
          </a:p>
        </p:txBody>
      </p:sp>
      <p:sp>
        <p:nvSpPr>
          <p:cNvPr id="27" name="Text 25"/>
          <p:cNvSpPr/>
          <p:nvPr/>
        </p:nvSpPr>
        <p:spPr>
          <a:xfrm>
            <a:off x="7790688" y="1188720"/>
            <a:ext cx="164592" cy="2743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7936992" y="1371600"/>
            <a:ext cx="822960" cy="457200"/>
          </a:xfrm>
          <a:prstGeom prst="roundRect">
            <a:avLst>
              <a:gd name="adj" fmla="val 10000"/>
            </a:avLst>
          </a:prstGeom>
          <a:solidFill>
            <a:srgbClr val="C0392B"/>
          </a:solidFill>
          <a:ln w="12700">
            <a:solidFill>
              <a:srgbClr val="C0392B"/>
            </a:solidFill>
            <a:prstDash val="solid"/>
          </a:ln>
        </p:spPr>
      </p:sp>
      <p:sp>
        <p:nvSpPr>
          <p:cNvPr id="29" name="Text 27"/>
          <p:cNvSpPr/>
          <p:nvPr/>
        </p:nvSpPr>
        <p:spPr>
          <a:xfrm>
            <a:off x="7936992" y="1371600"/>
            <a:ext cx="82296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Dense</a:t>
            </a:r>
            <a:endParaRPr lang="en-US" sz="850" dirty="0"/>
          </a:p>
          <a:p>
            <a:pPr algn="ctr" indent="0" marL="0">
              <a:buNone/>
            </a:pPr>
            <a:r>
              <a:rPr lang="en-US" sz="850" b="1" dirty="0">
                <a:solidFill>
                  <a:srgbClr val="FFFFFF"/>
                </a:solidFill>
                <a:latin typeface="Calibri" pitchFamily="34" charset="0"/>
                <a:ea typeface="Calibri" pitchFamily="34" charset="-122"/>
                <a:cs typeface="Calibri" pitchFamily="34" charset="-120"/>
              </a:rPr>
              <a:t>3 classes</a:t>
            </a:r>
            <a:endParaRPr lang="en-US" sz="850" dirty="0"/>
          </a:p>
        </p:txBody>
      </p:sp>
      <p:sp>
        <p:nvSpPr>
          <p:cNvPr id="30" name="Shape 28"/>
          <p:cNvSpPr/>
          <p:nvPr/>
        </p:nvSpPr>
        <p:spPr>
          <a:xfrm>
            <a:off x="365760" y="2194560"/>
            <a:ext cx="2651760" cy="1097280"/>
          </a:xfrm>
          <a:prstGeom prst="roundRect">
            <a:avLst>
              <a:gd name="adj" fmla="val 6667"/>
            </a:avLst>
          </a:prstGeom>
          <a:solidFill>
            <a:srgbClr val="E8F5EE"/>
          </a:solidFill>
          <a:ln w="15240">
            <a:solidFill>
              <a:srgbClr val="2E8B57"/>
            </a:solidFill>
            <a:prstDash val="solid"/>
          </a:ln>
        </p:spPr>
      </p:sp>
      <p:sp>
        <p:nvSpPr>
          <p:cNvPr id="31" name="Text 29"/>
          <p:cNvSpPr/>
          <p:nvPr/>
        </p:nvSpPr>
        <p:spPr>
          <a:xfrm>
            <a:off x="502920" y="2286000"/>
            <a:ext cx="2377440" cy="365760"/>
          </a:xfrm>
          <a:prstGeom prst="rect">
            <a:avLst/>
          </a:prstGeom>
          <a:noFill/>
          <a:ln/>
        </p:spPr>
        <p:txBody>
          <a:bodyPr wrap="square" lIns="0" tIns="0" rIns="0" bIns="0"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 Healthy Skin</a:t>
            </a:r>
            <a:endParaRPr lang="en-US" sz="1300" dirty="0"/>
          </a:p>
        </p:txBody>
      </p:sp>
      <p:sp>
        <p:nvSpPr>
          <p:cNvPr id="32" name="Text 30"/>
          <p:cNvSpPr/>
          <p:nvPr/>
        </p:nvSpPr>
        <p:spPr>
          <a:xfrm>
            <a:off x="502920" y="2651760"/>
            <a:ext cx="2377440" cy="54864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Clean, no lesions</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or marks visible</a:t>
            </a:r>
            <a:endParaRPr lang="en-US" sz="1100" dirty="0"/>
          </a:p>
        </p:txBody>
      </p:sp>
      <p:sp>
        <p:nvSpPr>
          <p:cNvPr id="33" name="Shape 31"/>
          <p:cNvSpPr/>
          <p:nvPr/>
        </p:nvSpPr>
        <p:spPr>
          <a:xfrm>
            <a:off x="3246120" y="2194560"/>
            <a:ext cx="2651760" cy="1097280"/>
          </a:xfrm>
          <a:prstGeom prst="roundRect">
            <a:avLst>
              <a:gd name="adj" fmla="val 6667"/>
            </a:avLst>
          </a:prstGeom>
          <a:solidFill>
            <a:srgbClr val="FEF2F2"/>
          </a:solidFill>
          <a:ln w="15240">
            <a:solidFill>
              <a:srgbClr val="C0392B"/>
            </a:solidFill>
            <a:prstDash val="solid"/>
          </a:ln>
        </p:spPr>
      </p:sp>
      <p:sp>
        <p:nvSpPr>
          <p:cNvPr id="34" name="Text 32"/>
          <p:cNvSpPr/>
          <p:nvPr/>
        </p:nvSpPr>
        <p:spPr>
          <a:xfrm>
            <a:off x="3383280" y="2286000"/>
            <a:ext cx="2377440" cy="36576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Active Inflammation</a:t>
            </a:r>
            <a:endParaRPr lang="en-US" sz="1300" dirty="0"/>
          </a:p>
        </p:txBody>
      </p:sp>
      <p:sp>
        <p:nvSpPr>
          <p:cNvPr id="35" name="Text 33"/>
          <p:cNvSpPr/>
          <p:nvPr/>
        </p:nvSpPr>
        <p:spPr>
          <a:xfrm>
            <a:off x="3383280" y="2651760"/>
            <a:ext cx="2377440" cy="54864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Vivid red blotches,</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swelling, irritation</a:t>
            </a:r>
            <a:endParaRPr lang="en-US" sz="1100" dirty="0"/>
          </a:p>
        </p:txBody>
      </p:sp>
      <p:sp>
        <p:nvSpPr>
          <p:cNvPr id="36" name="Shape 34"/>
          <p:cNvSpPr/>
          <p:nvPr/>
        </p:nvSpPr>
        <p:spPr>
          <a:xfrm>
            <a:off x="6126480" y="2194560"/>
            <a:ext cx="2651760" cy="1097280"/>
          </a:xfrm>
          <a:prstGeom prst="roundRect">
            <a:avLst>
              <a:gd name="adj" fmla="val 6667"/>
            </a:avLst>
          </a:prstGeom>
          <a:solidFill>
            <a:srgbClr val="FFFBEB"/>
          </a:solidFill>
          <a:ln w="15240">
            <a:solidFill>
              <a:srgbClr val="D97706"/>
            </a:solidFill>
            <a:prstDash val="solid"/>
          </a:ln>
        </p:spPr>
      </p:sp>
      <p:sp>
        <p:nvSpPr>
          <p:cNvPr id="37" name="Text 35"/>
          <p:cNvSpPr/>
          <p:nvPr/>
        </p:nvSpPr>
        <p:spPr>
          <a:xfrm>
            <a:off x="6263640" y="2286000"/>
            <a:ext cx="2377440" cy="365760"/>
          </a:xfrm>
          <a:prstGeom prst="rect">
            <a:avLst/>
          </a:prstGeom>
          <a:noFill/>
          <a:ln/>
        </p:spPr>
        <p:txBody>
          <a:bodyPr wrap="square" lIns="0" tIns="0" rIns="0" bIns="0" rtlCol="0" anchor="ctr"/>
          <a:lstStyle/>
          <a:p>
            <a:pPr indent="0" marL="0">
              <a:buNone/>
            </a:pPr>
            <a:r>
              <a:rPr lang="en-US" sz="1300" b="1" dirty="0">
                <a:solidFill>
                  <a:srgbClr val="D97706"/>
                </a:solidFill>
                <a:latin typeface="Calibri" pitchFamily="34" charset="0"/>
                <a:ea typeface="Calibri" pitchFamily="34" charset="-122"/>
                <a:cs typeface="Calibri" pitchFamily="34" charset="-120"/>
              </a:rPr>
              <a:t>🟡 Healing (Fading)</a:t>
            </a:r>
            <a:endParaRPr lang="en-US" sz="1300" dirty="0"/>
          </a:p>
        </p:txBody>
      </p:sp>
      <p:sp>
        <p:nvSpPr>
          <p:cNvPr id="38" name="Text 36"/>
          <p:cNvSpPr/>
          <p:nvPr/>
        </p:nvSpPr>
        <p:spPr>
          <a:xfrm>
            <a:off x="6263640" y="2651760"/>
            <a:ext cx="2377440" cy="548640"/>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Brown/dusty-rose marks,</a:t>
            </a:r>
            <a:endParaRPr lang="en-US" sz="1100" dirty="0"/>
          </a:p>
          <a:p>
            <a:pPr indent="0" marL="0">
              <a:buNone/>
            </a:pPr>
            <a:r>
              <a:rPr lang="en-US" sz="1100" dirty="0">
                <a:solidFill>
                  <a:srgbClr val="1A1A2E"/>
                </a:solidFill>
                <a:latin typeface="Calibri" pitchFamily="34" charset="0"/>
                <a:ea typeface="Calibri" pitchFamily="34" charset="-122"/>
                <a:cs typeface="Calibri" pitchFamily="34" charset="-120"/>
              </a:rPr>
              <a:t>fading redness</a:t>
            </a:r>
            <a:endParaRPr lang="en-US" sz="1100" dirty="0"/>
          </a:p>
        </p:txBody>
      </p:sp>
      <p:sp>
        <p:nvSpPr>
          <p:cNvPr id="39" name="Shape 37"/>
          <p:cNvSpPr/>
          <p:nvPr/>
        </p:nvSpPr>
        <p:spPr>
          <a:xfrm>
            <a:off x="365760" y="3401568"/>
            <a:ext cx="8412480" cy="1280160"/>
          </a:xfrm>
          <a:prstGeom prst="roundRect">
            <a:avLst>
              <a:gd name="adj" fmla="val 5714"/>
            </a:avLst>
          </a:prstGeom>
          <a:solidFill>
            <a:srgbClr val="EFF6FF"/>
          </a:solidFill>
          <a:ln w="15240">
            <a:solidFill>
              <a:srgbClr val="1D4ED8"/>
            </a:solidFill>
            <a:prstDash val="solid"/>
          </a:ln>
        </p:spPr>
      </p:sp>
      <p:sp>
        <p:nvSpPr>
          <p:cNvPr id="40" name="Text 38"/>
          <p:cNvSpPr/>
          <p:nvPr/>
        </p:nvSpPr>
        <p:spPr>
          <a:xfrm>
            <a:off x="548640" y="3493008"/>
            <a:ext cx="8046720" cy="347472"/>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 Day-over-Day Comparison Feature</a:t>
            </a:r>
            <a:endParaRPr lang="en-US" sz="1300" dirty="0"/>
          </a:p>
        </p:txBody>
      </p:sp>
      <p:sp>
        <p:nvSpPr>
          <p:cNvPr id="41" name="Text 39"/>
          <p:cNvSpPr/>
          <p:nvPr/>
        </p:nvSpPr>
        <p:spPr>
          <a:xfrm>
            <a:off x="548640" y="3840480"/>
            <a:ext cx="8046720" cy="25603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Upload today's photo + a previous day's photo → AI compares the predicted class pair:</a:t>
            </a:r>
            <a:endParaRPr lang="en-US" sz="1100" dirty="0"/>
          </a:p>
        </p:txBody>
      </p:sp>
      <p:sp>
        <p:nvSpPr>
          <p:cNvPr id="42" name="Text 40"/>
          <p:cNvSpPr/>
          <p:nvPr/>
        </p:nvSpPr>
        <p:spPr>
          <a:xfrm>
            <a:off x="548640" y="4114800"/>
            <a:ext cx="8046720" cy="411480"/>
          </a:xfrm>
          <a:prstGeom prst="rect">
            <a:avLst/>
          </a:prstGeom>
          <a:noFill/>
          <a:ln/>
        </p:spPr>
        <p:txBody>
          <a:bodyPr wrap="square" lIns="0" tIns="0" rIns="0" bIns="0"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inflamed → healing  =  ✅ Improving       healing → healthy  =  ✅ Improving       healthy → inflamed  =  ⚠️ Worsening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Session History Archive + Chat Assistant</a:t>
            </a:r>
            <a:endParaRPr lang="en-US" sz="2800" dirty="0"/>
          </a:p>
        </p:txBody>
      </p:sp>
      <p:sp>
        <p:nvSpPr>
          <p:cNvPr id="4" name="Shape 2"/>
          <p:cNvSpPr/>
          <p:nvPr/>
        </p:nvSpPr>
        <p:spPr>
          <a:xfrm>
            <a:off x="228600" y="685800"/>
            <a:ext cx="4160520" cy="4023360"/>
          </a:xfrm>
          <a:prstGeom prst="roundRect">
            <a:avLst>
              <a:gd name="adj" fmla="val 1818"/>
            </a:avLst>
          </a:prstGeom>
          <a:solidFill>
            <a:srgbClr val="E8F5EE"/>
          </a:solidFill>
          <a:ln w="15240">
            <a:solidFill>
              <a:srgbClr val="2E8B57"/>
            </a:solidFill>
            <a:prstDash val="solid"/>
          </a:ln>
        </p:spPr>
      </p:sp>
      <p:sp>
        <p:nvSpPr>
          <p:cNvPr id="5" name="Text 3"/>
          <p:cNvSpPr/>
          <p:nvPr/>
        </p:nvSpPr>
        <p:spPr>
          <a:xfrm>
            <a:off x="411480" y="777240"/>
            <a:ext cx="3794760" cy="347472"/>
          </a:xfrm>
          <a:prstGeom prst="rect">
            <a:avLst/>
          </a:prstGeom>
          <a:noFill/>
          <a:ln/>
        </p:spPr>
        <p:txBody>
          <a:bodyPr wrap="square" lIns="0" tIns="0" rIns="0" bIns="0" rtlCol="0" anchor="ctr"/>
          <a:lstStyle/>
          <a:p>
            <a:pPr indent="0" marL="0">
              <a:buNone/>
            </a:pPr>
            <a:r>
              <a:rPr lang="en-US" sz="1400" b="1" dirty="0">
                <a:solidFill>
                  <a:srgbClr val="1B6B3A"/>
                </a:solidFill>
                <a:latin typeface="Calibri" pitchFamily="34" charset="0"/>
                <a:ea typeface="Calibri" pitchFamily="34" charset="-122"/>
                <a:cs typeface="Calibri" pitchFamily="34" charset="-120"/>
              </a:rPr>
              <a:t>📂 Session History</a:t>
            </a:r>
            <a:endParaRPr lang="en-US" sz="1400" dirty="0"/>
          </a:p>
        </p:txBody>
      </p:sp>
      <p:sp>
        <p:nvSpPr>
          <p:cNvPr id="6" name="Text 4"/>
          <p:cNvSpPr/>
          <p:nvPr/>
        </p:nvSpPr>
        <p:spPr>
          <a:xfrm>
            <a:off x="411480" y="1170432"/>
            <a:ext cx="3794760" cy="3291840"/>
          </a:xfrm>
          <a:prstGeom prst="rect">
            <a:avLst/>
          </a:prstGeom>
          <a:noFill/>
          <a:ln/>
        </p:spPr>
        <p:txBody>
          <a:bodyPr wrap="square" lIns="0" tIns="0" rIns="0" bIns="0" rtlCol="0" anchor="t"/>
          <a:lstStyle/>
          <a:p>
            <a:pPr>
              <a:spcAft>
                <a:spcPts val="400"/>
              </a:spcAft>
            </a:pPr>
            <a:r>
              <a:rPr lang="en-US" sz="1050" dirty="0">
                <a:solidFill>
                  <a:srgbClr val="1A1A2E"/>
                </a:solidFill>
                <a:latin typeface="Calibri" pitchFamily="34" charset="0"/>
                <a:ea typeface="Calibri" pitchFamily="34" charset="-122"/>
                <a:cs typeface="Calibri" pitchFamily="34" charset="-120"/>
              </a:rPr>
              <a:t>Every health problem is saved as a named session</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e.g. "Dengue Oct 2025" or "Skin Rash Jan 2026"</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Switch between sessions from the sidebar</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Each session stores independently:</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     • Symptom analysis results</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     • Daily log entries + health scores</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     • Medicine list + timings</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     • Full chat history</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Resume any past session — AI gives updated suggestions</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Reset button starts a new session without deleting old ones</a:t>
            </a:r>
            <a:endParaRPr lang="en-US" sz="1050" dirty="0"/>
          </a:p>
          <a:p>
            <a:pPr>
              <a:spcAft>
                <a:spcPts val="400"/>
              </a:spcAft>
            </a:pPr>
            <a:r>
              <a:rPr lang="en-US" sz="1050" dirty="0">
                <a:solidFill>
                  <a:srgbClr val="1A1A2E"/>
                </a:solidFill>
                <a:latin typeface="Calibri" pitchFamily="34" charset="0"/>
                <a:ea typeface="Calibri" pitchFamily="34" charset="-122"/>
                <a:cs typeface="Calibri" pitchFamily="34" charset="-120"/>
              </a:rPr>
              <a:t>Old sessions stay archived forever — accessible anytime</a:t>
            </a:r>
            <a:endParaRPr lang="en-US" sz="1050" dirty="0"/>
          </a:p>
        </p:txBody>
      </p:sp>
      <p:sp>
        <p:nvSpPr>
          <p:cNvPr id="7" name="Shape 5"/>
          <p:cNvSpPr/>
          <p:nvPr/>
        </p:nvSpPr>
        <p:spPr>
          <a:xfrm>
            <a:off x="4663440" y="685800"/>
            <a:ext cx="4251960" cy="4023360"/>
          </a:xfrm>
          <a:prstGeom prst="roundRect">
            <a:avLst>
              <a:gd name="adj" fmla="val 1818"/>
            </a:avLst>
          </a:prstGeom>
          <a:solidFill>
            <a:srgbClr val="F5F3FF"/>
          </a:solidFill>
          <a:ln w="15240">
            <a:solidFill>
              <a:srgbClr val="7C3AED"/>
            </a:solidFill>
            <a:prstDash val="solid"/>
          </a:ln>
        </p:spPr>
      </p:sp>
      <p:sp>
        <p:nvSpPr>
          <p:cNvPr id="8" name="Text 6"/>
          <p:cNvSpPr/>
          <p:nvPr/>
        </p:nvSpPr>
        <p:spPr>
          <a:xfrm>
            <a:off x="4846320" y="777240"/>
            <a:ext cx="3886200" cy="347472"/>
          </a:xfrm>
          <a:prstGeom prst="rect">
            <a:avLst/>
          </a:prstGeom>
          <a:noFill/>
          <a:ln/>
        </p:spPr>
        <p:txBody>
          <a:bodyPr wrap="square" lIns="0" tIns="0" rIns="0" bIns="0" rtlCol="0" anchor="ctr"/>
          <a:lstStyle/>
          <a:p>
            <a:pPr indent="0" marL="0">
              <a:buNone/>
            </a:pPr>
            <a:r>
              <a:rPr lang="en-US" sz="1400" b="1" dirty="0">
                <a:solidFill>
                  <a:srgbClr val="7C3AED"/>
                </a:solidFill>
                <a:latin typeface="Calibri" pitchFamily="34" charset="0"/>
                <a:ea typeface="Calibri" pitchFamily="34" charset="-122"/>
                <a:cs typeface="Calibri" pitchFamily="34" charset="-120"/>
              </a:rPr>
              <a:t>💬 Chat Assistant</a:t>
            </a:r>
            <a:endParaRPr lang="en-US" sz="1400" dirty="0"/>
          </a:p>
        </p:txBody>
      </p:sp>
      <p:sp>
        <p:nvSpPr>
          <p:cNvPr id="9" name="Shape 7"/>
          <p:cNvSpPr/>
          <p:nvPr/>
        </p:nvSpPr>
        <p:spPr>
          <a:xfrm>
            <a:off x="4846320" y="1170432"/>
            <a:ext cx="3886200" cy="658368"/>
          </a:xfrm>
          <a:prstGeom prst="roundRect">
            <a:avLst>
              <a:gd name="adj" fmla="val 8333"/>
            </a:avLst>
          </a:prstGeom>
          <a:solidFill>
            <a:srgbClr val="EFF6FF"/>
          </a:solidFill>
          <a:ln w="10160">
            <a:solidFill>
              <a:srgbClr val="1D4ED8"/>
            </a:solidFill>
            <a:prstDash val="solid"/>
          </a:ln>
        </p:spPr>
      </p:sp>
      <p:sp>
        <p:nvSpPr>
          <p:cNvPr id="10" name="Text 8"/>
          <p:cNvSpPr/>
          <p:nvPr/>
        </p:nvSpPr>
        <p:spPr>
          <a:xfrm>
            <a:off x="4983480" y="1207008"/>
            <a:ext cx="3657600" cy="201168"/>
          </a:xfrm>
          <a:prstGeom prst="rect">
            <a:avLst/>
          </a:prstGeom>
          <a:noFill/>
          <a:ln/>
        </p:spPr>
        <p:txBody>
          <a:bodyPr wrap="square" lIns="0" tIns="0" rIns="0" bIns="0" rtlCol="0" anchor="ctr"/>
          <a:lstStyle/>
          <a:p>
            <a:pPr indent="0" marL="0">
              <a:buNone/>
            </a:pPr>
            <a:r>
              <a:rPr lang="en-US" sz="900" b="1" dirty="0">
                <a:solidFill>
                  <a:srgbClr val="1D4ED8"/>
                </a:solidFill>
                <a:latin typeface="Calibri" pitchFamily="34" charset="0"/>
                <a:ea typeface="Calibri" pitchFamily="34" charset="-122"/>
                <a:cs typeface="Calibri" pitchFamily="34" charset="-120"/>
              </a:rPr>
              <a:t>👤 User</a:t>
            </a:r>
            <a:endParaRPr lang="en-US" sz="900" dirty="0"/>
          </a:p>
        </p:txBody>
      </p:sp>
      <p:sp>
        <p:nvSpPr>
          <p:cNvPr id="11" name="Text 9"/>
          <p:cNvSpPr/>
          <p:nvPr/>
        </p:nvSpPr>
        <p:spPr>
          <a:xfrm>
            <a:off x="4983480" y="1399032"/>
            <a:ext cx="3657600" cy="365760"/>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"Can I go to work?"</a:t>
            </a:r>
            <a:endParaRPr lang="en-US" sz="950" dirty="0"/>
          </a:p>
        </p:txBody>
      </p:sp>
      <p:sp>
        <p:nvSpPr>
          <p:cNvPr id="12" name="Shape 10"/>
          <p:cNvSpPr/>
          <p:nvPr/>
        </p:nvSpPr>
        <p:spPr>
          <a:xfrm>
            <a:off x="4846320" y="1920240"/>
            <a:ext cx="3886200" cy="658368"/>
          </a:xfrm>
          <a:prstGeom prst="roundRect">
            <a:avLst>
              <a:gd name="adj" fmla="val 8333"/>
            </a:avLst>
          </a:prstGeom>
          <a:solidFill>
            <a:srgbClr val="F5F3FF"/>
          </a:solidFill>
          <a:ln w="10160">
            <a:solidFill>
              <a:srgbClr val="7C3AED"/>
            </a:solidFill>
            <a:prstDash val="solid"/>
          </a:ln>
        </p:spPr>
      </p:sp>
      <p:sp>
        <p:nvSpPr>
          <p:cNvPr id="13" name="Text 11"/>
          <p:cNvSpPr/>
          <p:nvPr/>
        </p:nvSpPr>
        <p:spPr>
          <a:xfrm>
            <a:off x="4983480" y="1956816"/>
            <a:ext cx="3657600" cy="201168"/>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 AI</a:t>
            </a:r>
            <a:endParaRPr lang="en-US" sz="900" dirty="0"/>
          </a:p>
        </p:txBody>
      </p:sp>
      <p:sp>
        <p:nvSpPr>
          <p:cNvPr id="14" name="Text 12"/>
          <p:cNvSpPr/>
          <p:nvPr/>
        </p:nvSpPr>
        <p:spPr>
          <a:xfrm>
            <a:off x="4983480" y="2148840"/>
            <a:ext cx="3657600" cy="365760"/>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"No — your risk is HIGH. Rest at home; you may be contagious. Consult a doctor before returning."</a:t>
            </a:r>
            <a:endParaRPr lang="en-US" sz="950" dirty="0"/>
          </a:p>
        </p:txBody>
      </p:sp>
      <p:sp>
        <p:nvSpPr>
          <p:cNvPr id="15" name="Shape 13"/>
          <p:cNvSpPr/>
          <p:nvPr/>
        </p:nvSpPr>
        <p:spPr>
          <a:xfrm>
            <a:off x="4846320" y="2670048"/>
            <a:ext cx="3886200" cy="658368"/>
          </a:xfrm>
          <a:prstGeom prst="roundRect">
            <a:avLst>
              <a:gd name="adj" fmla="val 8333"/>
            </a:avLst>
          </a:prstGeom>
          <a:solidFill>
            <a:srgbClr val="EFF6FF"/>
          </a:solidFill>
          <a:ln w="10160">
            <a:solidFill>
              <a:srgbClr val="1D4ED8"/>
            </a:solidFill>
            <a:prstDash val="solid"/>
          </a:ln>
        </p:spPr>
      </p:sp>
      <p:sp>
        <p:nvSpPr>
          <p:cNvPr id="16" name="Text 14"/>
          <p:cNvSpPr/>
          <p:nvPr/>
        </p:nvSpPr>
        <p:spPr>
          <a:xfrm>
            <a:off x="4983480" y="2706624"/>
            <a:ext cx="3657600" cy="201168"/>
          </a:xfrm>
          <a:prstGeom prst="rect">
            <a:avLst/>
          </a:prstGeom>
          <a:noFill/>
          <a:ln/>
        </p:spPr>
        <p:txBody>
          <a:bodyPr wrap="square" lIns="0" tIns="0" rIns="0" bIns="0" rtlCol="0" anchor="ctr"/>
          <a:lstStyle/>
          <a:p>
            <a:pPr indent="0" marL="0">
              <a:buNone/>
            </a:pPr>
            <a:r>
              <a:rPr lang="en-US" sz="900" b="1" dirty="0">
                <a:solidFill>
                  <a:srgbClr val="1D4ED8"/>
                </a:solidFill>
                <a:latin typeface="Calibri" pitchFamily="34" charset="0"/>
                <a:ea typeface="Calibri" pitchFamily="34" charset="-122"/>
                <a:cs typeface="Calibri" pitchFamily="34" charset="-120"/>
              </a:rPr>
              <a:t>👤 User</a:t>
            </a:r>
            <a:endParaRPr lang="en-US" sz="900" dirty="0"/>
          </a:p>
        </p:txBody>
      </p:sp>
      <p:sp>
        <p:nvSpPr>
          <p:cNvPr id="17" name="Text 15"/>
          <p:cNvSpPr/>
          <p:nvPr/>
        </p:nvSpPr>
        <p:spPr>
          <a:xfrm>
            <a:off x="4983480" y="2898648"/>
            <a:ext cx="3657600" cy="365760"/>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"What should I eat?"</a:t>
            </a:r>
            <a:endParaRPr lang="en-US" sz="950" dirty="0"/>
          </a:p>
        </p:txBody>
      </p:sp>
      <p:sp>
        <p:nvSpPr>
          <p:cNvPr id="18" name="Shape 16"/>
          <p:cNvSpPr/>
          <p:nvPr/>
        </p:nvSpPr>
        <p:spPr>
          <a:xfrm>
            <a:off x="4846320" y="3419856"/>
            <a:ext cx="3886200" cy="658368"/>
          </a:xfrm>
          <a:prstGeom prst="roundRect">
            <a:avLst>
              <a:gd name="adj" fmla="val 8333"/>
            </a:avLst>
          </a:prstGeom>
          <a:solidFill>
            <a:srgbClr val="F5F3FF"/>
          </a:solidFill>
          <a:ln w="10160">
            <a:solidFill>
              <a:srgbClr val="7C3AED"/>
            </a:solidFill>
            <a:prstDash val="solid"/>
          </a:ln>
        </p:spPr>
      </p:sp>
      <p:sp>
        <p:nvSpPr>
          <p:cNvPr id="19" name="Text 17"/>
          <p:cNvSpPr/>
          <p:nvPr/>
        </p:nvSpPr>
        <p:spPr>
          <a:xfrm>
            <a:off x="4983480" y="3456432"/>
            <a:ext cx="3657600" cy="201168"/>
          </a:xfrm>
          <a:prstGeom prst="rect">
            <a:avLst/>
          </a:prstGeom>
          <a:noFill/>
          <a:ln/>
        </p:spPr>
        <p:txBody>
          <a:bodyPr wrap="square" lIns="0" tIns="0" rIns="0" bIns="0" rtlCol="0" anchor="ctr"/>
          <a:lstStyle/>
          <a:p>
            <a:pPr indent="0" marL="0">
              <a:buNone/>
            </a:pPr>
            <a:r>
              <a:rPr lang="en-US" sz="900" b="1" dirty="0">
                <a:solidFill>
                  <a:srgbClr val="7C3AED"/>
                </a:solidFill>
                <a:latin typeface="Calibri" pitchFamily="34" charset="0"/>
                <a:ea typeface="Calibri" pitchFamily="34" charset="-122"/>
                <a:cs typeface="Calibri" pitchFamily="34" charset="-120"/>
              </a:rPr>
              <a:t>🤖 AI</a:t>
            </a:r>
            <a:endParaRPr lang="en-US" sz="900" dirty="0"/>
          </a:p>
        </p:txBody>
      </p:sp>
      <p:sp>
        <p:nvSpPr>
          <p:cNvPr id="20" name="Text 18"/>
          <p:cNvSpPr/>
          <p:nvPr/>
        </p:nvSpPr>
        <p:spPr>
          <a:xfrm>
            <a:off x="4983480" y="3648456"/>
            <a:ext cx="3657600" cy="365760"/>
          </a:xfrm>
          <a:prstGeom prst="rect">
            <a:avLst/>
          </a:prstGeom>
          <a:noFill/>
          <a:ln/>
        </p:spPr>
        <p:txBody>
          <a:bodyPr wrap="square" lIns="0" tIns="0" rIns="0" bIns="0" rtlCol="0" anchor="ctr"/>
          <a:lstStyle/>
          <a:p>
            <a:pPr indent="0" marL="0">
              <a:buNone/>
            </a:pPr>
            <a:r>
              <a:rPr lang="en-US" sz="950" dirty="0">
                <a:solidFill>
                  <a:srgbClr val="1A1A2E"/>
                </a:solidFill>
                <a:latin typeface="Calibri" pitchFamily="34" charset="0"/>
                <a:ea typeface="Calibri" pitchFamily="34" charset="-122"/>
                <a:cs typeface="Calibri" pitchFamily="34" charset="-120"/>
              </a:rPr>
              <a:t>"Light khichdi/porridge in morning, warm fluids throughout, avoid oily food."</a:t>
            </a:r>
            <a:endParaRPr lang="en-US" sz="950" dirty="0"/>
          </a:p>
        </p:txBody>
      </p:sp>
      <p:sp>
        <p:nvSpPr>
          <p:cNvPr id="21" name="Text 19"/>
          <p:cNvSpPr/>
          <p:nvPr/>
        </p:nvSpPr>
        <p:spPr>
          <a:xfrm>
            <a:off x="4846320" y="4206240"/>
            <a:ext cx="3886200" cy="41148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Quick-question buttons for common queries</a:t>
            </a:r>
            <a:endParaRPr lang="en-US" sz="950" dirty="0"/>
          </a:p>
          <a:p>
            <a:pPr indent="0" marL="0">
              <a:buNone/>
            </a:pPr>
            <a:r>
              <a:rPr lang="en-US" sz="950" dirty="0">
                <a:solidFill>
                  <a:srgbClr val="6B7280"/>
                </a:solidFill>
                <a:latin typeface="Calibri" pitchFamily="34" charset="0"/>
                <a:ea typeface="Calibri" pitchFamily="34" charset="-122"/>
                <a:cs typeface="Calibri" pitchFamily="34" charset="-120"/>
              </a:rPr>
              <a:t>Voice input + TTS readback in selected language</a:t>
            </a:r>
            <a:endParaRPr lang="en-US" sz="950" dirty="0"/>
          </a:p>
          <a:p>
            <a:pPr indent="0" marL="0">
              <a:buNone/>
            </a:pPr>
            <a:r>
              <a:rPr lang="en-US" sz="950" dirty="0">
                <a:solidFill>
                  <a:srgbClr val="6B7280"/>
                </a:solidFill>
                <a:latin typeface="Calibri" pitchFamily="34" charset="0"/>
                <a:ea typeface="Calibri" pitchFamily="34" charset="-122"/>
                <a:cs typeface="Calibri" pitchFamily="34" charset="-120"/>
              </a:rPr>
              <a:t>Chat history saved per session, resumable anytime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Multilingual Voice Assistant + Offline-First</a:t>
            </a:r>
            <a:endParaRPr lang="en-US" sz="2800" dirty="0"/>
          </a:p>
        </p:txBody>
      </p:sp>
      <p:sp>
        <p:nvSpPr>
          <p:cNvPr id="4" name="Shape 2"/>
          <p:cNvSpPr/>
          <p:nvPr/>
        </p:nvSpPr>
        <p:spPr>
          <a:xfrm>
            <a:off x="228600" y="685800"/>
            <a:ext cx="4114800" cy="3108960"/>
          </a:xfrm>
          <a:prstGeom prst="roundRect">
            <a:avLst>
              <a:gd name="adj" fmla="val 2353"/>
            </a:avLst>
          </a:prstGeom>
          <a:solidFill>
            <a:srgbClr val="E8F5EE"/>
          </a:solidFill>
          <a:ln w="15240">
            <a:solidFill>
              <a:srgbClr val="2E8B57"/>
            </a:solidFill>
            <a:prstDash val="solid"/>
          </a:ln>
        </p:spPr>
      </p:sp>
      <p:sp>
        <p:nvSpPr>
          <p:cNvPr id="5" name="Text 3"/>
          <p:cNvSpPr/>
          <p:nvPr/>
        </p:nvSpPr>
        <p:spPr>
          <a:xfrm>
            <a:off x="411480" y="777240"/>
            <a:ext cx="3749040" cy="347472"/>
          </a:xfrm>
          <a:prstGeom prst="rect">
            <a:avLst/>
          </a:prstGeom>
          <a:noFill/>
          <a:ln/>
        </p:spPr>
        <p:txBody>
          <a:bodyPr wrap="square" lIns="0" tIns="0" rIns="0" bIns="0" rtlCol="0" anchor="ctr"/>
          <a:lstStyle/>
          <a:p>
            <a:pPr indent="0" marL="0">
              <a:buNone/>
            </a:pPr>
            <a:r>
              <a:rPr lang="en-US" sz="1300" b="1" dirty="0">
                <a:solidFill>
                  <a:srgbClr val="1B6B3A"/>
                </a:solidFill>
                <a:latin typeface="Calibri" pitchFamily="34" charset="0"/>
                <a:ea typeface="Calibri" pitchFamily="34" charset="-122"/>
                <a:cs typeface="Calibri" pitchFamily="34" charset="-120"/>
              </a:rPr>
              <a:t>🌐 11 Languages Supported</a:t>
            </a:r>
            <a:endParaRPr lang="en-US" sz="1300" dirty="0"/>
          </a:p>
        </p:txBody>
      </p:sp>
      <p:sp>
        <p:nvSpPr>
          <p:cNvPr id="6" name="Text 4"/>
          <p:cNvSpPr/>
          <p:nvPr/>
        </p:nvSpPr>
        <p:spPr>
          <a:xfrm>
            <a:off x="411480" y="1170432"/>
            <a:ext cx="3749040" cy="2377440"/>
          </a:xfrm>
          <a:prstGeom prst="rect">
            <a:avLst/>
          </a:prstGeom>
          <a:noFill/>
          <a:ln/>
        </p:spPr>
        <p:txBody>
          <a:bodyPr wrap="square" lIns="0" tIns="0" rIns="0" bIns="0" rtlCol="0" anchor="t"/>
          <a:lstStyle/>
          <a:p>
            <a:pPr>
              <a:spcAft>
                <a:spcPts val="400"/>
              </a:spcAft>
            </a:pPr>
            <a:r>
              <a:rPr lang="en-US" sz="1100" dirty="0">
                <a:solidFill>
                  <a:srgbClr val="1A1A2E"/>
                </a:solidFill>
                <a:latin typeface="Calibri" pitchFamily="34" charset="0"/>
                <a:ea typeface="Calibri" pitchFamily="34" charset="-122"/>
                <a:cs typeface="Calibri" pitchFamily="34" charset="-120"/>
              </a:rPr>
              <a:t>English (India)</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Hindi</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Telugu</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Tamil</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Kannada</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Bengali</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Marathi</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Gujarati</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Arabic</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French</a:t>
            </a:r>
            <a:endParaRPr lang="en-US" sz="1100" dirty="0"/>
          </a:p>
          <a:p>
            <a:pPr>
              <a:spcAft>
                <a:spcPts val="400"/>
              </a:spcAft>
            </a:pPr>
            <a:r>
              <a:rPr lang="en-US" sz="1100" dirty="0">
                <a:solidFill>
                  <a:srgbClr val="1A1A2E"/>
                </a:solidFill>
                <a:latin typeface="Calibri" pitchFamily="34" charset="0"/>
                <a:ea typeface="Calibri" pitchFamily="34" charset="-122"/>
                <a:cs typeface="Calibri" pitchFamily="34" charset="-120"/>
              </a:rPr>
              <a:t>Spanish</a:t>
            </a:r>
            <a:endParaRPr lang="en-US" sz="1100" dirty="0"/>
          </a:p>
        </p:txBody>
      </p:sp>
      <p:sp>
        <p:nvSpPr>
          <p:cNvPr id="7" name="Shape 5"/>
          <p:cNvSpPr/>
          <p:nvPr/>
        </p:nvSpPr>
        <p:spPr>
          <a:xfrm>
            <a:off x="4572000" y="685800"/>
            <a:ext cx="4343400" cy="3108960"/>
          </a:xfrm>
          <a:prstGeom prst="roundRect">
            <a:avLst>
              <a:gd name="adj" fmla="val 2353"/>
            </a:avLst>
          </a:prstGeom>
          <a:solidFill>
            <a:srgbClr val="EFF6FF"/>
          </a:solidFill>
          <a:ln w="15240">
            <a:solidFill>
              <a:srgbClr val="1D4ED8"/>
            </a:solidFill>
            <a:prstDash val="solid"/>
          </a:ln>
        </p:spPr>
      </p:sp>
      <p:sp>
        <p:nvSpPr>
          <p:cNvPr id="8" name="Text 6"/>
          <p:cNvSpPr/>
          <p:nvPr/>
        </p:nvSpPr>
        <p:spPr>
          <a:xfrm>
            <a:off x="4754880" y="777240"/>
            <a:ext cx="3977640" cy="347472"/>
          </a:xfrm>
          <a:prstGeom prst="rect">
            <a:avLst/>
          </a:prstGeom>
          <a:noFill/>
          <a:ln/>
        </p:spPr>
        <p:txBody>
          <a:bodyPr wrap="square" lIns="0" tIns="0" rIns="0" bIns="0"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 Voice Features</a:t>
            </a:r>
            <a:endParaRPr lang="en-US" sz="1300" dirty="0"/>
          </a:p>
        </p:txBody>
      </p:sp>
      <p:sp>
        <p:nvSpPr>
          <p:cNvPr id="9" name="Text 7"/>
          <p:cNvSpPr/>
          <p:nvPr/>
        </p:nvSpPr>
        <p:spPr>
          <a:xfrm>
            <a:off x="4754880" y="1170432"/>
            <a:ext cx="3977640" cy="2377440"/>
          </a:xfrm>
          <a:prstGeom prst="rect">
            <a:avLst/>
          </a:prstGeom>
          <a:noFill/>
          <a:ln/>
        </p:spPr>
        <p:txBody>
          <a:bodyPr wrap="square" lIns="0" tIns="0" rIns="0" bIns="0" rtlCol="0" anchor="t"/>
          <a:lstStyle/>
          <a:p>
            <a:pPr>
              <a:spcAft>
                <a:spcPts val="500"/>
              </a:spcAft>
            </a:pPr>
            <a:r>
              <a:rPr lang="en-US" sz="1050" dirty="0">
                <a:solidFill>
                  <a:srgbClr val="1A1A2E"/>
                </a:solidFill>
                <a:latin typeface="Calibri" pitchFamily="34" charset="0"/>
                <a:ea typeface="Calibri" pitchFamily="34" charset="-122"/>
                <a:cs typeface="Calibri" pitchFamily="34" charset="-120"/>
              </a:rPr>
              <a:t>Speak symptoms aloud — no typing needed</a:t>
            </a:r>
            <a:endParaRPr lang="en-US" sz="1050" dirty="0"/>
          </a:p>
          <a:p>
            <a:pPr>
              <a:spcAft>
                <a:spcPts val="500"/>
              </a:spcAft>
            </a:pPr>
            <a:r>
              <a:rPr lang="en-US" sz="1050" dirty="0">
                <a:solidFill>
                  <a:srgbClr val="1A1A2E"/>
                </a:solidFill>
                <a:latin typeface="Calibri" pitchFamily="34" charset="0"/>
                <a:ea typeface="Calibri" pitchFamily="34" charset="-122"/>
                <a:cs typeface="Calibri" pitchFamily="34" charset="-120"/>
              </a:rPr>
              <a:t>Chrome Web Speech API (offline-capable)</a:t>
            </a:r>
            <a:endParaRPr lang="en-US" sz="1050" dirty="0"/>
          </a:p>
          <a:p>
            <a:pPr>
              <a:spcAft>
                <a:spcPts val="500"/>
              </a:spcAft>
            </a:pPr>
            <a:r>
              <a:rPr lang="en-US" sz="1050" dirty="0">
                <a:solidFill>
                  <a:srgbClr val="1A1A2E"/>
                </a:solidFill>
                <a:latin typeface="Calibri" pitchFamily="34" charset="0"/>
                <a:ea typeface="Calibri" pitchFamily="34" charset="-122"/>
                <a:cs typeface="Calibri" pitchFamily="34" charset="-120"/>
              </a:rPr>
              <a:t>Text-to-speech reads results back to user</a:t>
            </a:r>
            <a:endParaRPr lang="en-US" sz="1050" dirty="0"/>
          </a:p>
          <a:p>
            <a:pPr>
              <a:spcAft>
                <a:spcPts val="500"/>
              </a:spcAft>
            </a:pPr>
            <a:r>
              <a:rPr lang="en-US" sz="1050" dirty="0">
                <a:solidFill>
                  <a:srgbClr val="1A1A2E"/>
                </a:solidFill>
                <a:latin typeface="Calibri" pitchFamily="34" charset="0"/>
                <a:ea typeface="Calibri" pitchFamily="34" charset="-122"/>
                <a:cs typeface="Calibri" pitchFamily="34" charset="-120"/>
              </a:rPr>
              <a:t>Designed for uneducated / low-literacy users</a:t>
            </a:r>
            <a:endParaRPr lang="en-US" sz="1050" dirty="0"/>
          </a:p>
          <a:p>
            <a:pPr>
              <a:spcAft>
                <a:spcPts val="500"/>
              </a:spcAft>
            </a:pPr>
            <a:r>
              <a:rPr lang="en-US" sz="1050" dirty="0">
                <a:solidFill>
                  <a:srgbClr val="1A1A2E"/>
                </a:solidFill>
                <a:latin typeface="Calibri" pitchFamily="34" charset="0"/>
                <a:ea typeface="Calibri" pitchFamily="34" charset="-122"/>
                <a:cs typeface="Calibri" pitchFamily="34" charset="-120"/>
              </a:rPr>
              <a:t>Voice input available in: Symptom Analyzer, Chat Assistant</a:t>
            </a:r>
            <a:endParaRPr lang="en-US" sz="1050" dirty="0"/>
          </a:p>
          <a:p>
            <a:pPr>
              <a:spcAft>
                <a:spcPts val="500"/>
              </a:spcAft>
            </a:pPr>
            <a:r>
              <a:rPr lang="en-US" sz="1050" dirty="0">
                <a:solidFill>
                  <a:srgbClr val="1A1A2E"/>
                </a:solidFill>
                <a:latin typeface="Calibri" pitchFamily="34" charset="0"/>
                <a:ea typeface="Calibri" pitchFamily="34" charset="-122"/>
                <a:cs typeface="Calibri" pitchFamily="34" charset="-120"/>
              </a:rPr>
              <a:t>TTS available on: Symptom results, Dashboard summary</a:t>
            </a:r>
            <a:endParaRPr lang="en-US" sz="1050" dirty="0"/>
          </a:p>
        </p:txBody>
      </p:sp>
      <p:sp>
        <p:nvSpPr>
          <p:cNvPr id="10" name="Shape 8"/>
          <p:cNvSpPr/>
          <p:nvPr/>
        </p:nvSpPr>
        <p:spPr>
          <a:xfrm>
            <a:off x="228600" y="3886200"/>
            <a:ext cx="8686800" cy="1005840"/>
          </a:xfrm>
          <a:prstGeom prst="roundRect">
            <a:avLst>
              <a:gd name="adj" fmla="val 7273"/>
            </a:avLst>
          </a:prstGeom>
          <a:solidFill>
            <a:srgbClr val="F0FDFA"/>
          </a:solidFill>
          <a:ln w="15240">
            <a:solidFill>
              <a:srgbClr val="0F766E"/>
            </a:solidFill>
            <a:prstDash val="solid"/>
          </a:ln>
        </p:spPr>
      </p:sp>
      <p:sp>
        <p:nvSpPr>
          <p:cNvPr id="11" name="Text 9"/>
          <p:cNvSpPr/>
          <p:nvPr/>
        </p:nvSpPr>
        <p:spPr>
          <a:xfrm>
            <a:off x="411480" y="3959352"/>
            <a:ext cx="8321040" cy="3200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 Offline-First Design</a:t>
            </a:r>
            <a:endParaRPr lang="en-US" sz="1300" dirty="0"/>
          </a:p>
        </p:txBody>
      </p:sp>
      <p:sp>
        <p:nvSpPr>
          <p:cNvPr id="12" name="Text 10"/>
          <p:cNvSpPr/>
          <p:nvPr/>
        </p:nvSpPr>
        <p:spPr>
          <a:xfrm>
            <a:off x="411480" y="4279392"/>
            <a:ext cx="8321040" cy="502920"/>
          </a:xfrm>
          <a:prstGeom prst="rect">
            <a:avLst/>
          </a:prstGeom>
          <a:noFill/>
          <a:ln/>
        </p:spPr>
        <p:txBody>
          <a:bodyPr wrap="square" lIns="0" tIns="0" rIns="0" bIns="0" rtlCol="0" anchor="ctr"/>
          <a:lstStyle/>
          <a:p>
            <a:pPr indent="0" marL="0">
              <a:buNone/>
            </a:pPr>
            <a:r>
              <a:rPr lang="en-US" sz="1050" dirty="0">
                <a:solidFill>
                  <a:srgbClr val="1A1A2E"/>
                </a:solidFill>
                <a:latin typeface="Calibri" pitchFamily="34" charset="0"/>
                <a:ea typeface="Calibri" pitchFamily="34" charset="-122"/>
                <a:cs typeface="Calibri" pitchFamily="34" charset="-120"/>
              </a:rPr>
              <a:t>All ML/DL inference runs locally  •  No API key for core features  •  Hospital map via OpenStreetMap (low-connectivity)  •  Session data stored on device  •  Medicine alarms use browser notifications — no server needed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Recovery Dashboard — Data Science + GenAI</a:t>
            </a:r>
            <a:endParaRPr lang="en-US" sz="2800" dirty="0"/>
          </a:p>
        </p:txBody>
      </p:sp>
      <p:sp>
        <p:nvSpPr>
          <p:cNvPr id="4" name="Shape 2"/>
          <p:cNvSpPr/>
          <p:nvPr/>
        </p:nvSpPr>
        <p:spPr>
          <a:xfrm>
            <a:off x="228600" y="685800"/>
            <a:ext cx="2011680" cy="822960"/>
          </a:xfrm>
          <a:prstGeom prst="roundRect">
            <a:avLst>
              <a:gd name="adj" fmla="val 8889"/>
            </a:avLst>
          </a:prstGeom>
          <a:solidFill>
            <a:srgbClr val="E8F5EE"/>
          </a:solidFill>
          <a:ln w="15240">
            <a:solidFill>
              <a:srgbClr val="1B6B3A"/>
            </a:solidFill>
            <a:prstDash val="solid"/>
          </a:ln>
        </p:spPr>
      </p:sp>
      <p:sp>
        <p:nvSpPr>
          <p:cNvPr id="5" name="Text 3"/>
          <p:cNvSpPr/>
          <p:nvPr/>
        </p:nvSpPr>
        <p:spPr>
          <a:xfrm>
            <a:off x="320040" y="749808"/>
            <a:ext cx="1828800" cy="384048"/>
          </a:xfrm>
          <a:prstGeom prst="rect">
            <a:avLst/>
          </a:prstGeom>
          <a:noFill/>
          <a:ln/>
        </p:spPr>
        <p:txBody>
          <a:bodyPr wrap="square" lIns="0" tIns="0" rIns="0" bIns="0" rtlCol="0" anchor="ctr"/>
          <a:lstStyle/>
          <a:p>
            <a:pPr algn="ctr" indent="0" marL="0">
              <a:buNone/>
            </a:pPr>
            <a:r>
              <a:rPr lang="en-US" sz="1800" b="1" dirty="0">
                <a:solidFill>
                  <a:srgbClr val="1B6B3A"/>
                </a:solidFill>
                <a:latin typeface="Calibri" pitchFamily="34" charset="0"/>
                <a:ea typeface="Calibri" pitchFamily="34" charset="-122"/>
                <a:cs typeface="Calibri" pitchFamily="34" charset="-120"/>
              </a:rPr>
              <a:t>4</a:t>
            </a:r>
            <a:endParaRPr lang="en-US" sz="1800" dirty="0"/>
          </a:p>
        </p:txBody>
      </p:sp>
      <p:sp>
        <p:nvSpPr>
          <p:cNvPr id="6" name="Text 4"/>
          <p:cNvSpPr/>
          <p:nvPr/>
        </p:nvSpPr>
        <p:spPr>
          <a:xfrm>
            <a:off x="320040" y="1115568"/>
            <a:ext cx="18288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Days Tracked</a:t>
            </a:r>
            <a:endParaRPr lang="en-US" sz="1000" dirty="0"/>
          </a:p>
        </p:txBody>
      </p:sp>
      <p:sp>
        <p:nvSpPr>
          <p:cNvPr id="7" name="Shape 5"/>
          <p:cNvSpPr/>
          <p:nvPr/>
        </p:nvSpPr>
        <p:spPr>
          <a:xfrm>
            <a:off x="2404872" y="685800"/>
            <a:ext cx="2011680" cy="822960"/>
          </a:xfrm>
          <a:prstGeom prst="roundRect">
            <a:avLst>
              <a:gd name="adj" fmla="val 8889"/>
            </a:avLst>
          </a:prstGeom>
          <a:solidFill>
            <a:srgbClr val="EFF6FF"/>
          </a:solidFill>
          <a:ln w="15240">
            <a:solidFill>
              <a:srgbClr val="1D4ED8"/>
            </a:solidFill>
            <a:prstDash val="solid"/>
          </a:ln>
        </p:spPr>
      </p:sp>
      <p:sp>
        <p:nvSpPr>
          <p:cNvPr id="8" name="Text 6"/>
          <p:cNvSpPr/>
          <p:nvPr/>
        </p:nvSpPr>
        <p:spPr>
          <a:xfrm>
            <a:off x="2496312" y="749808"/>
            <a:ext cx="1828800" cy="384048"/>
          </a:xfrm>
          <a:prstGeom prst="rect">
            <a:avLst/>
          </a:prstGeom>
          <a:noFill/>
          <a:ln/>
        </p:spPr>
        <p:txBody>
          <a:bodyPr wrap="square" lIns="0" tIns="0" rIns="0" bIns="0" rtlCol="0" anchor="ctr"/>
          <a:lstStyle/>
          <a:p>
            <a:pPr algn="ctr" indent="0" marL="0">
              <a:buNone/>
            </a:pPr>
            <a:r>
              <a:rPr lang="en-US" sz="1800" b="1" dirty="0">
                <a:solidFill>
                  <a:srgbClr val="1D4ED8"/>
                </a:solidFill>
                <a:latin typeface="Calibri" pitchFamily="34" charset="0"/>
                <a:ea typeface="Calibri" pitchFamily="34" charset="-122"/>
                <a:cs typeface="Calibri" pitchFamily="34" charset="-120"/>
              </a:rPr>
              <a:t>88/100</a:t>
            </a:r>
            <a:endParaRPr lang="en-US" sz="1800" dirty="0"/>
          </a:p>
        </p:txBody>
      </p:sp>
      <p:sp>
        <p:nvSpPr>
          <p:cNvPr id="9" name="Text 7"/>
          <p:cNvSpPr/>
          <p:nvPr/>
        </p:nvSpPr>
        <p:spPr>
          <a:xfrm>
            <a:off x="2496312" y="1115568"/>
            <a:ext cx="18288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Health Score</a:t>
            </a:r>
            <a:endParaRPr lang="en-US" sz="1000" dirty="0"/>
          </a:p>
        </p:txBody>
      </p:sp>
      <p:sp>
        <p:nvSpPr>
          <p:cNvPr id="10" name="Shape 8"/>
          <p:cNvSpPr/>
          <p:nvPr/>
        </p:nvSpPr>
        <p:spPr>
          <a:xfrm>
            <a:off x="4581144" y="685800"/>
            <a:ext cx="2011680" cy="822960"/>
          </a:xfrm>
          <a:prstGeom prst="roundRect">
            <a:avLst>
              <a:gd name="adj" fmla="val 8889"/>
            </a:avLst>
          </a:prstGeom>
          <a:solidFill>
            <a:srgbClr val="E8F5EE"/>
          </a:solidFill>
          <a:ln w="15240">
            <a:solidFill>
              <a:srgbClr val="2E8B57"/>
            </a:solidFill>
            <a:prstDash val="solid"/>
          </a:ln>
        </p:spPr>
      </p:sp>
      <p:sp>
        <p:nvSpPr>
          <p:cNvPr id="11" name="Text 9"/>
          <p:cNvSpPr/>
          <p:nvPr/>
        </p:nvSpPr>
        <p:spPr>
          <a:xfrm>
            <a:off x="4672584" y="749808"/>
            <a:ext cx="1828800" cy="384048"/>
          </a:xfrm>
          <a:prstGeom prst="rect">
            <a:avLst/>
          </a:prstGeom>
          <a:noFill/>
          <a:ln/>
        </p:spPr>
        <p:txBody>
          <a:bodyPr wrap="square" lIns="0" tIns="0" rIns="0" bIns="0" rtlCol="0" anchor="ctr"/>
          <a:lstStyle/>
          <a:p>
            <a:pPr algn="ctr" indent="0" marL="0">
              <a:buNone/>
            </a:pPr>
            <a:r>
              <a:rPr lang="en-US" sz="1800" b="1" dirty="0">
                <a:solidFill>
                  <a:srgbClr val="2E8B57"/>
                </a:solidFill>
                <a:latin typeface="Calibri" pitchFamily="34" charset="0"/>
                <a:ea typeface="Calibri" pitchFamily="34" charset="-122"/>
                <a:cs typeface="Calibri" pitchFamily="34" charset="-120"/>
              </a:rPr>
              <a:t>📈 Improving</a:t>
            </a:r>
            <a:endParaRPr lang="en-US" sz="1800" dirty="0"/>
          </a:p>
        </p:txBody>
      </p:sp>
      <p:sp>
        <p:nvSpPr>
          <p:cNvPr id="12" name="Text 10"/>
          <p:cNvSpPr/>
          <p:nvPr/>
        </p:nvSpPr>
        <p:spPr>
          <a:xfrm>
            <a:off x="4672584" y="1115568"/>
            <a:ext cx="18288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Trend</a:t>
            </a:r>
            <a:endParaRPr lang="en-US" sz="1000" dirty="0"/>
          </a:p>
        </p:txBody>
      </p:sp>
      <p:sp>
        <p:nvSpPr>
          <p:cNvPr id="13" name="Shape 11"/>
          <p:cNvSpPr/>
          <p:nvPr/>
        </p:nvSpPr>
        <p:spPr>
          <a:xfrm>
            <a:off x="6757416" y="685800"/>
            <a:ext cx="2011680" cy="822960"/>
          </a:xfrm>
          <a:prstGeom prst="roundRect">
            <a:avLst>
              <a:gd name="adj" fmla="val 8889"/>
            </a:avLst>
          </a:prstGeom>
          <a:solidFill>
            <a:srgbClr val="FFFBEB"/>
          </a:solidFill>
          <a:ln w="15240">
            <a:solidFill>
              <a:srgbClr val="D97706"/>
            </a:solidFill>
            <a:prstDash val="solid"/>
          </a:ln>
        </p:spPr>
      </p:sp>
      <p:sp>
        <p:nvSpPr>
          <p:cNvPr id="14" name="Text 12"/>
          <p:cNvSpPr/>
          <p:nvPr/>
        </p:nvSpPr>
        <p:spPr>
          <a:xfrm>
            <a:off x="6848856" y="749808"/>
            <a:ext cx="1828800" cy="384048"/>
          </a:xfrm>
          <a:prstGeom prst="rect">
            <a:avLst/>
          </a:prstGeom>
          <a:noFill/>
          <a:ln/>
        </p:spPr>
        <p:txBody>
          <a:bodyPr wrap="square" lIns="0" tIns="0" rIns="0" bIns="0" rtlCol="0" anchor="ctr"/>
          <a:lstStyle/>
          <a:p>
            <a:pPr algn="ctr" indent="0" marL="0">
              <a:buNone/>
            </a:pPr>
            <a:r>
              <a:rPr lang="en-US" sz="1800" b="1" dirty="0">
                <a:solidFill>
                  <a:srgbClr val="D97706"/>
                </a:solidFill>
                <a:latin typeface="Calibri" pitchFamily="34" charset="0"/>
                <a:ea typeface="Calibri" pitchFamily="34" charset="-122"/>
                <a:cs typeface="Calibri" pitchFamily="34" charset="-120"/>
              </a:rPr>
              <a:t>100%</a:t>
            </a:r>
            <a:endParaRPr lang="en-US" sz="1800" dirty="0"/>
          </a:p>
        </p:txBody>
      </p:sp>
      <p:sp>
        <p:nvSpPr>
          <p:cNvPr id="15" name="Text 13"/>
          <p:cNvSpPr/>
          <p:nvPr/>
        </p:nvSpPr>
        <p:spPr>
          <a:xfrm>
            <a:off x="6848856" y="1115568"/>
            <a:ext cx="1828800" cy="27432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Medicine Adherence</a:t>
            </a:r>
            <a:endParaRPr lang="en-US" sz="1000" dirty="0"/>
          </a:p>
        </p:txBody>
      </p:sp>
      <p:graphicFrame>
        <p:nvGraphicFramePr>
          <p:cNvPr id="16" name="Chart 0" descr=""/>
          <p:cNvGraphicFramePr/>
          <p:nvPr/>
        </p:nvGraphicFramePr>
        <p:xfrm>
          <a:off x="228600" y="1627632"/>
          <a:ext cx="420624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Chart 1" descr=""/>
          <p:cNvGraphicFramePr/>
          <p:nvPr/>
        </p:nvGraphicFramePr>
        <p:xfrm>
          <a:off x="4709160" y="1627632"/>
          <a:ext cx="4206240" cy="2286000"/>
        </p:xfrm>
        <a:graphic xmlns:a="http://schemas.openxmlformats.org/drawingml/2006/main">
          <a:graphicData uri="http://schemas.openxmlformats.org/drawingml/2006/chart">
            <c:chart xmlns:c="http://schemas.openxmlformats.org/drawingml/2006/chart" r:id="rId2"/>
          </a:graphicData>
        </a:graphic>
      </p:graphicFrame>
      <p:sp>
        <p:nvSpPr>
          <p:cNvPr id="18" name="Shape 14"/>
          <p:cNvSpPr/>
          <p:nvPr/>
        </p:nvSpPr>
        <p:spPr>
          <a:xfrm>
            <a:off x="228600" y="4005072"/>
            <a:ext cx="8686800" cy="777240"/>
          </a:xfrm>
          <a:prstGeom prst="roundRect">
            <a:avLst>
              <a:gd name="adj" fmla="val 9412"/>
            </a:avLst>
          </a:prstGeom>
          <a:solidFill>
            <a:srgbClr val="E8F5EE"/>
          </a:solidFill>
          <a:ln w="15240">
            <a:solidFill>
              <a:srgbClr val="2E8B57"/>
            </a:solidFill>
            <a:prstDash val="solid"/>
          </a:ln>
        </p:spPr>
      </p:sp>
      <p:sp>
        <p:nvSpPr>
          <p:cNvPr id="19" name="Text 15"/>
          <p:cNvSpPr/>
          <p:nvPr/>
        </p:nvSpPr>
        <p:spPr>
          <a:xfrm>
            <a:off x="411480" y="4087368"/>
            <a:ext cx="8321040" cy="320040"/>
          </a:xfrm>
          <a:prstGeom prst="rect">
            <a:avLst/>
          </a:prstGeom>
          <a:noFill/>
          <a:ln/>
        </p:spPr>
        <p:txBody>
          <a:bodyPr wrap="square" lIns="0" tIns="0" rIns="0" bIns="0" rtlCol="0" anchor="ctr"/>
          <a:lstStyle/>
          <a:p>
            <a:pPr indent="0" marL="0">
              <a:buNone/>
            </a:pPr>
            <a:r>
              <a:rPr lang="en-US" sz="1300" b="1" dirty="0">
                <a:solidFill>
                  <a:srgbClr val="1B6B3A"/>
                </a:solidFill>
                <a:latin typeface="Calibri" pitchFamily="34" charset="0"/>
                <a:ea typeface="Calibri" pitchFamily="34" charset="-122"/>
                <a:cs typeface="Calibri" pitchFamily="34" charset="-120"/>
              </a:rPr>
              <a:t>✅ Follow-up Decision: No checkup needed</a:t>
            </a:r>
            <a:endParaRPr lang="en-US" sz="1300" dirty="0"/>
          </a:p>
        </p:txBody>
      </p:sp>
      <p:sp>
        <p:nvSpPr>
          <p:cNvPr id="20" name="Text 16"/>
          <p:cNvSpPr/>
          <p:nvPr/>
        </p:nvSpPr>
        <p:spPr>
          <a:xfrm>
            <a:off x="411480" y="4407408"/>
            <a:ext cx="8321040" cy="274320"/>
          </a:xfrm>
          <a:prstGeom prst="rect">
            <a:avLst/>
          </a:prstGeom>
          <a:noFill/>
          <a:ln/>
        </p:spPr>
        <p:txBody>
          <a:bodyPr wrap="square" lIns="0" tIns="0" rIns="0" bIns="0" rtlCol="0" anchor="ctr"/>
          <a:lstStyle/>
          <a:p>
            <a:pPr indent="0" marL="0">
              <a:buNone/>
            </a:pPr>
            <a:r>
              <a:rPr lang="en-US" sz="1000" dirty="0">
                <a:solidFill>
                  <a:srgbClr val="1A1A2E"/>
                </a:solidFill>
                <a:latin typeface="Calibri" pitchFamily="34" charset="0"/>
                <a:ea typeface="Calibri" pitchFamily="34" charset="-122"/>
                <a:cs typeface="Calibri" pitchFamily="34" charset="-120"/>
              </a:rPr>
              <a:t>Recovery trend looks positive. Continue current care and complete any prescribed medication course.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Text 1"/>
          <p:cNvSpPr/>
          <p:nvPr/>
        </p:nvSpPr>
        <p:spPr>
          <a:xfrm>
            <a:off x="365760" y="137160"/>
            <a:ext cx="8412480" cy="502920"/>
          </a:xfrm>
          <a:prstGeom prst="rect">
            <a:avLst/>
          </a:prstGeom>
          <a:noFill/>
          <a:ln/>
        </p:spPr>
        <p:txBody>
          <a:bodyPr wrap="square" lIns="0" tIns="0" rIns="0" bIns="0" rtlCol="0" anchor="ctr"/>
          <a:lstStyle/>
          <a:p>
            <a:pPr indent="0" marL="0">
              <a:buNone/>
            </a:pPr>
            <a:r>
              <a:rPr lang="en-US" sz="2800" b="1" dirty="0">
                <a:solidFill>
                  <a:srgbClr val="1B6B3A"/>
                </a:solidFill>
                <a:latin typeface="Calibri" pitchFamily="34" charset="0"/>
                <a:ea typeface="Calibri" pitchFamily="34" charset="-122"/>
                <a:cs typeface="Calibri" pitchFamily="34" charset="-120"/>
              </a:rPr>
              <a:t>Technology Stack</a:t>
            </a:r>
            <a:endParaRPr lang="en-US" sz="2800" dirty="0"/>
          </a:p>
        </p:txBody>
      </p:sp>
      <p:sp>
        <p:nvSpPr>
          <p:cNvPr id="4" name="Shape 2"/>
          <p:cNvSpPr/>
          <p:nvPr/>
        </p:nvSpPr>
        <p:spPr>
          <a:xfrm>
            <a:off x="228600" y="685800"/>
            <a:ext cx="2743200" cy="2011680"/>
          </a:xfrm>
          <a:prstGeom prst="roundRect">
            <a:avLst>
              <a:gd name="adj" fmla="val 3636"/>
            </a:avLst>
          </a:prstGeom>
          <a:solidFill>
            <a:srgbClr val="E8F5EE"/>
          </a:solidFill>
          <a:ln w="15240">
            <a:solidFill>
              <a:srgbClr val="1B6B3A"/>
            </a:solidFill>
            <a:prstDash val="solid"/>
          </a:ln>
        </p:spPr>
      </p:sp>
      <p:sp>
        <p:nvSpPr>
          <p:cNvPr id="5" name="Text 3"/>
          <p:cNvSpPr/>
          <p:nvPr/>
        </p:nvSpPr>
        <p:spPr>
          <a:xfrm>
            <a:off x="365760" y="795528"/>
            <a:ext cx="2468880" cy="320040"/>
          </a:xfrm>
          <a:prstGeom prst="rect">
            <a:avLst/>
          </a:prstGeom>
          <a:noFill/>
          <a:ln/>
        </p:spPr>
        <p:txBody>
          <a:bodyPr wrap="square" lIns="0" tIns="0" rIns="0" bIns="0" rtlCol="0" anchor="ctr"/>
          <a:lstStyle/>
          <a:p>
            <a:pPr indent="0" marL="0">
              <a:buNone/>
            </a:pPr>
            <a:r>
              <a:rPr lang="en-US" sz="1200" b="1" dirty="0">
                <a:solidFill>
                  <a:srgbClr val="1B6B3A"/>
                </a:solidFill>
                <a:latin typeface="Calibri" pitchFamily="34" charset="0"/>
                <a:ea typeface="Calibri" pitchFamily="34" charset="-122"/>
                <a:cs typeface="Calibri" pitchFamily="34" charset="-120"/>
              </a:rPr>
              <a:t>Machine Learning</a:t>
            </a:r>
            <a:endParaRPr lang="en-US" sz="1200" dirty="0"/>
          </a:p>
        </p:txBody>
      </p:sp>
      <p:sp>
        <p:nvSpPr>
          <p:cNvPr id="6" name="Text 4"/>
          <p:cNvSpPr/>
          <p:nvPr/>
        </p:nvSpPr>
        <p:spPr>
          <a:xfrm>
            <a:off x="365760" y="1161288"/>
            <a:ext cx="2468880" cy="1371600"/>
          </a:xfrm>
          <a:prstGeom prst="rect">
            <a:avLst/>
          </a:prstGeom>
          <a:noFill/>
          <a:ln/>
        </p:spPr>
        <p:txBody>
          <a:bodyPr wrap="square" lIns="0" tIns="0" rIns="0" bIns="0" rtlCol="0" anchor="t"/>
          <a:lstStyle/>
          <a:p>
            <a:pPr>
              <a:spcAft>
                <a:spcPts val="400"/>
              </a:spcAft>
            </a:pPr>
            <a:r>
              <a:rPr lang="en-US" sz="1000" dirty="0">
                <a:solidFill>
                  <a:srgbClr val="1A1A2E"/>
                </a:solidFill>
                <a:latin typeface="Calibri" pitchFamily="34" charset="0"/>
                <a:ea typeface="Calibri" pitchFamily="34" charset="-122"/>
                <a:cs typeface="Calibri" pitchFamily="34" charset="-120"/>
              </a:rPr>
              <a:t>scikit-learn (Random Forest)</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pandas / numpy</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joblib (model persistence)</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Custom NLP synonym mapper</a:t>
            </a:r>
            <a:endParaRPr lang="en-US" sz="1000" dirty="0"/>
          </a:p>
        </p:txBody>
      </p:sp>
      <p:sp>
        <p:nvSpPr>
          <p:cNvPr id="7" name="Shape 5"/>
          <p:cNvSpPr/>
          <p:nvPr/>
        </p:nvSpPr>
        <p:spPr>
          <a:xfrm>
            <a:off x="3154680" y="685800"/>
            <a:ext cx="2743200" cy="2011680"/>
          </a:xfrm>
          <a:prstGeom prst="roundRect">
            <a:avLst>
              <a:gd name="adj" fmla="val 3636"/>
            </a:avLst>
          </a:prstGeom>
          <a:solidFill>
            <a:srgbClr val="E0F2FE"/>
          </a:solidFill>
          <a:ln w="15240">
            <a:solidFill>
              <a:srgbClr val="0F766E"/>
            </a:solidFill>
            <a:prstDash val="solid"/>
          </a:ln>
        </p:spPr>
      </p:sp>
      <p:sp>
        <p:nvSpPr>
          <p:cNvPr id="8" name="Text 6"/>
          <p:cNvSpPr/>
          <p:nvPr/>
        </p:nvSpPr>
        <p:spPr>
          <a:xfrm>
            <a:off x="3291840" y="795528"/>
            <a:ext cx="2468880" cy="320040"/>
          </a:xfrm>
          <a:prstGeom prst="rect">
            <a:avLst/>
          </a:prstGeom>
          <a:noFill/>
          <a:ln/>
        </p:spPr>
        <p:txBody>
          <a:bodyPr wrap="square" lIns="0" tIns="0" rIns="0" bIns="0" rtlCol="0" anchor="ctr"/>
          <a:lstStyle/>
          <a:p>
            <a:pPr indent="0" marL="0">
              <a:buNone/>
            </a:pPr>
            <a:r>
              <a:rPr lang="en-US" sz="1200" b="1" dirty="0">
                <a:solidFill>
                  <a:srgbClr val="0F766E"/>
                </a:solidFill>
                <a:latin typeface="Calibri" pitchFamily="34" charset="0"/>
                <a:ea typeface="Calibri" pitchFamily="34" charset="-122"/>
                <a:cs typeface="Calibri" pitchFamily="34" charset="-120"/>
              </a:rPr>
              <a:t>Deep Learning</a:t>
            </a:r>
            <a:endParaRPr lang="en-US" sz="1200" dirty="0"/>
          </a:p>
        </p:txBody>
      </p:sp>
      <p:sp>
        <p:nvSpPr>
          <p:cNvPr id="9" name="Text 7"/>
          <p:cNvSpPr/>
          <p:nvPr/>
        </p:nvSpPr>
        <p:spPr>
          <a:xfrm>
            <a:off x="3291840" y="1161288"/>
            <a:ext cx="2468880" cy="1371600"/>
          </a:xfrm>
          <a:prstGeom prst="rect">
            <a:avLst/>
          </a:prstGeom>
          <a:noFill/>
          <a:ln/>
        </p:spPr>
        <p:txBody>
          <a:bodyPr wrap="square" lIns="0" tIns="0" rIns="0" bIns="0" rtlCol="0" anchor="t"/>
          <a:lstStyle/>
          <a:p>
            <a:pPr>
              <a:spcAft>
                <a:spcPts val="400"/>
              </a:spcAft>
            </a:pPr>
            <a:r>
              <a:rPr lang="en-US" sz="1000" dirty="0">
                <a:solidFill>
                  <a:srgbClr val="1A1A2E"/>
                </a:solidFill>
                <a:latin typeface="Calibri" pitchFamily="34" charset="0"/>
                <a:ea typeface="Calibri" pitchFamily="34" charset="-122"/>
                <a:cs typeface="Calibri" pitchFamily="34" charset="-120"/>
              </a:rPr>
              <a:t>TensorFlow 2.21 / Keras</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Custom CNN architecture</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Data augmentation pipeline</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EarlyStopping callbacks</a:t>
            </a:r>
            <a:endParaRPr lang="en-US" sz="1000" dirty="0"/>
          </a:p>
        </p:txBody>
      </p:sp>
      <p:sp>
        <p:nvSpPr>
          <p:cNvPr id="10" name="Shape 8"/>
          <p:cNvSpPr/>
          <p:nvPr/>
        </p:nvSpPr>
        <p:spPr>
          <a:xfrm>
            <a:off x="6080760" y="685800"/>
            <a:ext cx="2743200" cy="2011680"/>
          </a:xfrm>
          <a:prstGeom prst="roundRect">
            <a:avLst>
              <a:gd name="adj" fmla="val 3636"/>
            </a:avLst>
          </a:prstGeom>
          <a:solidFill>
            <a:srgbClr val="EFF6FF"/>
          </a:solidFill>
          <a:ln w="15240">
            <a:solidFill>
              <a:srgbClr val="1D4ED8"/>
            </a:solidFill>
            <a:prstDash val="solid"/>
          </a:ln>
        </p:spPr>
      </p:sp>
      <p:sp>
        <p:nvSpPr>
          <p:cNvPr id="11" name="Text 9"/>
          <p:cNvSpPr/>
          <p:nvPr/>
        </p:nvSpPr>
        <p:spPr>
          <a:xfrm>
            <a:off x="6217920" y="795528"/>
            <a:ext cx="2468880" cy="320040"/>
          </a:xfrm>
          <a:prstGeom prst="rect">
            <a:avLst/>
          </a:prstGeom>
          <a:noFill/>
          <a:ln/>
        </p:spPr>
        <p:txBody>
          <a:bodyPr wrap="square" lIns="0" tIns="0" rIns="0" bIns="0" rtlCol="0" anchor="ctr"/>
          <a:lstStyle/>
          <a:p>
            <a:pPr indent="0" marL="0">
              <a:buNone/>
            </a:pPr>
            <a:r>
              <a:rPr lang="en-US" sz="1200" b="1" dirty="0">
                <a:solidFill>
                  <a:srgbClr val="1D4ED8"/>
                </a:solidFill>
                <a:latin typeface="Calibri" pitchFamily="34" charset="0"/>
                <a:ea typeface="Calibri" pitchFamily="34" charset="-122"/>
                <a:cs typeface="Calibri" pitchFamily="34" charset="-120"/>
              </a:rPr>
              <a:t>Data Science</a:t>
            </a:r>
            <a:endParaRPr lang="en-US" sz="1200" dirty="0"/>
          </a:p>
        </p:txBody>
      </p:sp>
      <p:sp>
        <p:nvSpPr>
          <p:cNvPr id="12" name="Text 10"/>
          <p:cNvSpPr/>
          <p:nvPr/>
        </p:nvSpPr>
        <p:spPr>
          <a:xfrm>
            <a:off x="6217920" y="1161288"/>
            <a:ext cx="2468880" cy="1371600"/>
          </a:xfrm>
          <a:prstGeom prst="rect">
            <a:avLst/>
          </a:prstGeom>
          <a:noFill/>
          <a:ln/>
        </p:spPr>
        <p:txBody>
          <a:bodyPr wrap="square" lIns="0" tIns="0" rIns="0" bIns="0" rtlCol="0" anchor="t"/>
          <a:lstStyle/>
          <a:p>
            <a:pPr>
              <a:spcAft>
                <a:spcPts val="400"/>
              </a:spcAft>
            </a:pPr>
            <a:r>
              <a:rPr lang="en-US" sz="1000" dirty="0">
                <a:solidFill>
                  <a:srgbClr val="1A1A2E"/>
                </a:solidFill>
                <a:latin typeface="Calibri" pitchFamily="34" charset="0"/>
                <a:ea typeface="Calibri" pitchFamily="34" charset="-122"/>
                <a:cs typeface="Calibri" pitchFamily="34" charset="-120"/>
              </a:rPr>
              <a:t>Plotly (interactive charts)</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Statistical trend detection</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Health score formula</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Medicine adherence tracking</a:t>
            </a:r>
            <a:endParaRPr lang="en-US" sz="1000" dirty="0"/>
          </a:p>
        </p:txBody>
      </p:sp>
      <p:sp>
        <p:nvSpPr>
          <p:cNvPr id="13" name="Shape 11"/>
          <p:cNvSpPr/>
          <p:nvPr/>
        </p:nvSpPr>
        <p:spPr>
          <a:xfrm>
            <a:off x="228600" y="2834640"/>
            <a:ext cx="2743200" cy="2011680"/>
          </a:xfrm>
          <a:prstGeom prst="roundRect">
            <a:avLst>
              <a:gd name="adj" fmla="val 3636"/>
            </a:avLst>
          </a:prstGeom>
          <a:solidFill>
            <a:srgbClr val="F5F3FF"/>
          </a:solidFill>
          <a:ln w="15240">
            <a:solidFill>
              <a:srgbClr val="7C3AED"/>
            </a:solidFill>
            <a:prstDash val="solid"/>
          </a:ln>
        </p:spPr>
      </p:sp>
      <p:sp>
        <p:nvSpPr>
          <p:cNvPr id="14" name="Text 12"/>
          <p:cNvSpPr/>
          <p:nvPr/>
        </p:nvSpPr>
        <p:spPr>
          <a:xfrm>
            <a:off x="365760" y="2944368"/>
            <a:ext cx="2468880" cy="320040"/>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GenAI + NLU</a:t>
            </a:r>
            <a:endParaRPr lang="en-US" sz="1200" dirty="0"/>
          </a:p>
        </p:txBody>
      </p:sp>
      <p:sp>
        <p:nvSpPr>
          <p:cNvPr id="15" name="Text 13"/>
          <p:cNvSpPr/>
          <p:nvPr/>
        </p:nvSpPr>
        <p:spPr>
          <a:xfrm>
            <a:off x="365760" y="3310128"/>
            <a:ext cx="2468880" cy="1371600"/>
          </a:xfrm>
          <a:prstGeom prst="rect">
            <a:avLst/>
          </a:prstGeom>
          <a:noFill/>
          <a:ln/>
        </p:spPr>
        <p:txBody>
          <a:bodyPr wrap="square" lIns="0" tIns="0" rIns="0" bIns="0" rtlCol="0" anchor="t"/>
          <a:lstStyle/>
          <a:p>
            <a:pPr>
              <a:spcAft>
                <a:spcPts val="400"/>
              </a:spcAft>
            </a:pPr>
            <a:r>
              <a:rPr lang="en-US" sz="1000" dirty="0">
                <a:solidFill>
                  <a:srgbClr val="1A1A2E"/>
                </a:solidFill>
                <a:latin typeface="Calibri" pitchFamily="34" charset="0"/>
                <a:ea typeface="Calibri" pitchFamily="34" charset="-122"/>
                <a:cs typeface="Calibri" pitchFamily="34" charset="-120"/>
              </a:rPr>
              <a:t>Template-based explainer</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LLM-prompt-ready design</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Intent keyword matching</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Multi-turn chat context</a:t>
            </a:r>
            <a:endParaRPr lang="en-US" sz="1000" dirty="0"/>
          </a:p>
        </p:txBody>
      </p:sp>
      <p:sp>
        <p:nvSpPr>
          <p:cNvPr id="16" name="Shape 14"/>
          <p:cNvSpPr/>
          <p:nvPr/>
        </p:nvSpPr>
        <p:spPr>
          <a:xfrm>
            <a:off x="3154680" y="2834640"/>
            <a:ext cx="2743200" cy="2011680"/>
          </a:xfrm>
          <a:prstGeom prst="roundRect">
            <a:avLst>
              <a:gd name="adj" fmla="val 3636"/>
            </a:avLst>
          </a:prstGeom>
          <a:solidFill>
            <a:srgbClr val="FFFBEB"/>
          </a:solidFill>
          <a:ln w="15240">
            <a:solidFill>
              <a:srgbClr val="D97706"/>
            </a:solidFill>
            <a:prstDash val="solid"/>
          </a:ln>
        </p:spPr>
      </p:sp>
      <p:sp>
        <p:nvSpPr>
          <p:cNvPr id="17" name="Text 15"/>
          <p:cNvSpPr/>
          <p:nvPr/>
        </p:nvSpPr>
        <p:spPr>
          <a:xfrm>
            <a:off x="3291840" y="2944368"/>
            <a:ext cx="2468880" cy="320040"/>
          </a:xfrm>
          <a:prstGeom prst="rect">
            <a:avLst/>
          </a:prstGeom>
          <a:noFill/>
          <a:ln/>
        </p:spPr>
        <p:txBody>
          <a:bodyPr wrap="square" lIns="0" tIns="0" rIns="0" bIns="0" rtlCol="0" anchor="ctr"/>
          <a:lstStyle/>
          <a:p>
            <a:pPr indent="0" marL="0">
              <a:buNone/>
            </a:pPr>
            <a:r>
              <a:rPr lang="en-US" sz="1200" b="1" dirty="0">
                <a:solidFill>
                  <a:srgbClr val="D97706"/>
                </a:solidFill>
                <a:latin typeface="Calibri" pitchFamily="34" charset="0"/>
                <a:ea typeface="Calibri" pitchFamily="34" charset="-122"/>
                <a:cs typeface="Calibri" pitchFamily="34" charset="-120"/>
              </a:rPr>
              <a:t>UI + Voice</a:t>
            </a:r>
            <a:endParaRPr lang="en-US" sz="1200" dirty="0"/>
          </a:p>
        </p:txBody>
      </p:sp>
      <p:sp>
        <p:nvSpPr>
          <p:cNvPr id="18" name="Text 16"/>
          <p:cNvSpPr/>
          <p:nvPr/>
        </p:nvSpPr>
        <p:spPr>
          <a:xfrm>
            <a:off x="3291840" y="3310128"/>
            <a:ext cx="2468880" cy="1371600"/>
          </a:xfrm>
          <a:prstGeom prst="rect">
            <a:avLst/>
          </a:prstGeom>
          <a:noFill/>
          <a:ln/>
        </p:spPr>
        <p:txBody>
          <a:bodyPr wrap="square" lIns="0" tIns="0" rIns="0" bIns="0" rtlCol="0" anchor="t"/>
          <a:lstStyle/>
          <a:p>
            <a:pPr>
              <a:spcAft>
                <a:spcPts val="400"/>
              </a:spcAft>
            </a:pPr>
            <a:r>
              <a:rPr lang="en-US" sz="1000" dirty="0">
                <a:solidFill>
                  <a:srgbClr val="1A1A2E"/>
                </a:solidFill>
                <a:latin typeface="Calibri" pitchFamily="34" charset="0"/>
                <a:ea typeface="Calibri" pitchFamily="34" charset="-122"/>
                <a:cs typeface="Calibri" pitchFamily="34" charset="-120"/>
              </a:rPr>
              <a:t>Streamlit (dashboard)</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Web Speech API (voice I/O)</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Browser Notifications API</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OpenStreetMap embed</a:t>
            </a:r>
            <a:endParaRPr lang="en-US" sz="1000" dirty="0"/>
          </a:p>
        </p:txBody>
      </p:sp>
      <p:sp>
        <p:nvSpPr>
          <p:cNvPr id="19" name="Shape 17"/>
          <p:cNvSpPr/>
          <p:nvPr/>
        </p:nvSpPr>
        <p:spPr>
          <a:xfrm>
            <a:off x="6080760" y="2834640"/>
            <a:ext cx="2743200" cy="2011680"/>
          </a:xfrm>
          <a:prstGeom prst="roundRect">
            <a:avLst>
              <a:gd name="adj" fmla="val 3636"/>
            </a:avLst>
          </a:prstGeom>
          <a:solidFill>
            <a:srgbClr val="FEF2F2"/>
          </a:solidFill>
          <a:ln w="15240">
            <a:solidFill>
              <a:srgbClr val="C0392B"/>
            </a:solidFill>
            <a:prstDash val="solid"/>
          </a:ln>
        </p:spPr>
      </p:sp>
      <p:sp>
        <p:nvSpPr>
          <p:cNvPr id="20" name="Text 18"/>
          <p:cNvSpPr/>
          <p:nvPr/>
        </p:nvSpPr>
        <p:spPr>
          <a:xfrm>
            <a:off x="6217920" y="2944368"/>
            <a:ext cx="2468880" cy="320040"/>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Storage + Infra</a:t>
            </a:r>
            <a:endParaRPr lang="en-US" sz="1200" dirty="0"/>
          </a:p>
        </p:txBody>
      </p:sp>
      <p:sp>
        <p:nvSpPr>
          <p:cNvPr id="21" name="Text 19"/>
          <p:cNvSpPr/>
          <p:nvPr/>
        </p:nvSpPr>
        <p:spPr>
          <a:xfrm>
            <a:off x="6217920" y="3310128"/>
            <a:ext cx="2468880" cy="1371600"/>
          </a:xfrm>
          <a:prstGeom prst="rect">
            <a:avLst/>
          </a:prstGeom>
          <a:noFill/>
          <a:ln/>
        </p:spPr>
        <p:txBody>
          <a:bodyPr wrap="square" lIns="0" tIns="0" rIns="0" bIns="0" rtlCol="0" anchor="t"/>
          <a:lstStyle/>
          <a:p>
            <a:pPr>
              <a:spcAft>
                <a:spcPts val="400"/>
              </a:spcAft>
            </a:pPr>
            <a:r>
              <a:rPr lang="en-US" sz="1000" dirty="0">
                <a:solidFill>
                  <a:srgbClr val="1A1A2E"/>
                </a:solidFill>
                <a:latin typeface="Calibri" pitchFamily="34" charset="0"/>
                <a:ea typeface="Calibri" pitchFamily="34" charset="-122"/>
                <a:cs typeface="Calibri" pitchFamily="34" charset="-120"/>
              </a:rPr>
              <a:t>JSON session archive</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Per-user log files</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Offline-first architecture</a:t>
            </a:r>
            <a:endParaRPr lang="en-US" sz="1000" dirty="0"/>
          </a:p>
          <a:p>
            <a:pPr>
              <a:spcAft>
                <a:spcPts val="400"/>
              </a:spcAft>
            </a:pPr>
            <a:r>
              <a:rPr lang="en-US" sz="1000" dirty="0">
                <a:solidFill>
                  <a:srgbClr val="1A1A2E"/>
                </a:solidFill>
                <a:latin typeface="Calibri" pitchFamily="34" charset="0"/>
                <a:ea typeface="Calibri" pitchFamily="34" charset="-122"/>
                <a:cs typeface="Calibri" pitchFamily="34" charset="-120"/>
              </a:rPr>
              <a:t>Swappable: SQLite / Firebase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1097280"/>
          </a:xfrm>
          <a:prstGeom prst="rect">
            <a:avLst/>
          </a:prstGeom>
          <a:solidFill>
            <a:srgbClr val="1B6B3A"/>
          </a:solidFill>
          <a:ln w="12700">
            <a:solidFill>
              <a:srgbClr val="1B6B3A"/>
            </a:solidFill>
            <a:prstDash val="solid"/>
          </a:ln>
        </p:spPr>
      </p:sp>
      <p:sp>
        <p:nvSpPr>
          <p:cNvPr id="4" name="Text 2"/>
          <p:cNvSpPr/>
          <p:nvPr/>
        </p:nvSpPr>
        <p:spPr>
          <a:xfrm>
            <a:off x="365760" y="182880"/>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Results &amp; Conclusion</a:t>
            </a:r>
            <a:endParaRPr lang="en-US" sz="3000" dirty="0"/>
          </a:p>
        </p:txBody>
      </p:sp>
      <p:sp>
        <p:nvSpPr>
          <p:cNvPr id="5" name="Text 3"/>
          <p:cNvSpPr/>
          <p:nvPr/>
        </p:nvSpPr>
        <p:spPr>
          <a:xfrm>
            <a:off x="365760" y="658368"/>
            <a:ext cx="8412480" cy="320040"/>
          </a:xfrm>
          <a:prstGeom prst="rect">
            <a:avLst/>
          </a:prstGeom>
          <a:noFill/>
          <a:ln/>
        </p:spPr>
        <p:txBody>
          <a:bodyPr wrap="square" lIns="0" tIns="0" rIns="0" bIns="0" rtlCol="0" anchor="ctr"/>
          <a:lstStyle/>
          <a:p>
            <a:pPr indent="0" marL="0">
              <a:buNone/>
            </a:pPr>
            <a:r>
              <a:rPr lang="en-US" sz="1300" dirty="0">
                <a:solidFill>
                  <a:srgbClr val="A7F3D0"/>
                </a:solidFill>
                <a:latin typeface="Calibri" pitchFamily="34" charset="0"/>
                <a:ea typeface="Calibri" pitchFamily="34" charset="-122"/>
                <a:cs typeface="Calibri" pitchFamily="34" charset="-120"/>
              </a:rPr>
              <a:t>AI Health Guardian v2.0 — What we built and demonstrated</a:t>
            </a:r>
            <a:endParaRPr lang="en-US" sz="1300" dirty="0"/>
          </a:p>
        </p:txBody>
      </p:sp>
      <p:sp>
        <p:nvSpPr>
          <p:cNvPr id="6" name="Shape 4"/>
          <p:cNvSpPr/>
          <p:nvPr/>
        </p:nvSpPr>
        <p:spPr>
          <a:xfrm>
            <a:off x="228600" y="1234440"/>
            <a:ext cx="1600200" cy="960120"/>
          </a:xfrm>
          <a:prstGeom prst="roundRect">
            <a:avLst>
              <a:gd name="adj" fmla="val 7619"/>
            </a:avLst>
          </a:prstGeom>
          <a:solidFill>
            <a:srgbClr val="E8F5EE"/>
          </a:solidFill>
          <a:ln w="15240">
            <a:solidFill>
              <a:srgbClr val="1B6B3A"/>
            </a:solidFill>
            <a:prstDash val="solid"/>
          </a:ln>
        </p:spPr>
      </p:sp>
      <p:sp>
        <p:nvSpPr>
          <p:cNvPr id="7" name="Text 5"/>
          <p:cNvSpPr/>
          <p:nvPr/>
        </p:nvSpPr>
        <p:spPr>
          <a:xfrm>
            <a:off x="301752" y="1280160"/>
            <a:ext cx="1453896" cy="438912"/>
          </a:xfrm>
          <a:prstGeom prst="rect">
            <a:avLst/>
          </a:prstGeom>
          <a:noFill/>
          <a:ln/>
        </p:spPr>
        <p:txBody>
          <a:bodyPr wrap="square" lIns="0" tIns="0" rIns="0" bIns="0" rtlCol="0" anchor="ctr"/>
          <a:lstStyle/>
          <a:p>
            <a:pPr algn="ctr" indent="0" marL="0">
              <a:buNone/>
            </a:pPr>
            <a:r>
              <a:rPr lang="en-US" sz="2000" b="1" dirty="0">
                <a:solidFill>
                  <a:srgbClr val="1B6B3A"/>
                </a:solidFill>
                <a:latin typeface="Calibri" pitchFamily="34" charset="0"/>
                <a:ea typeface="Calibri" pitchFamily="34" charset="-122"/>
                <a:cs typeface="Calibri" pitchFamily="34" charset="-120"/>
              </a:rPr>
              <a:t>98.7%</a:t>
            </a:r>
            <a:endParaRPr lang="en-US" sz="2000" dirty="0"/>
          </a:p>
        </p:txBody>
      </p:sp>
      <p:sp>
        <p:nvSpPr>
          <p:cNvPr id="8" name="Text 6"/>
          <p:cNvSpPr/>
          <p:nvPr/>
        </p:nvSpPr>
        <p:spPr>
          <a:xfrm>
            <a:off x="301752" y="1691640"/>
            <a:ext cx="1453896" cy="38404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Disease Prediction</a:t>
            </a:r>
            <a:endParaRPr lang="en-US" sz="900" dirty="0"/>
          </a:p>
          <a:p>
            <a:pPr algn="ctr" indent="0" marL="0">
              <a:buNone/>
            </a:pPr>
            <a:r>
              <a:rPr lang="en-US" sz="900" dirty="0">
                <a:solidFill>
                  <a:srgbClr val="6B7280"/>
                </a:solidFill>
                <a:latin typeface="Calibri" pitchFamily="34" charset="0"/>
                <a:ea typeface="Calibri" pitchFamily="34" charset="-122"/>
                <a:cs typeface="Calibri" pitchFamily="34" charset="-120"/>
              </a:rPr>
              <a:t>(Random Forest)</a:t>
            </a:r>
            <a:endParaRPr lang="en-US" sz="900" dirty="0"/>
          </a:p>
        </p:txBody>
      </p:sp>
      <p:sp>
        <p:nvSpPr>
          <p:cNvPr id="9" name="Shape 7"/>
          <p:cNvSpPr/>
          <p:nvPr/>
        </p:nvSpPr>
        <p:spPr>
          <a:xfrm>
            <a:off x="1965960" y="1234440"/>
            <a:ext cx="1600200" cy="960120"/>
          </a:xfrm>
          <a:prstGeom prst="roundRect">
            <a:avLst>
              <a:gd name="adj" fmla="val 7619"/>
            </a:avLst>
          </a:prstGeom>
          <a:solidFill>
            <a:srgbClr val="E8F5EE"/>
          </a:solidFill>
          <a:ln w="15240">
            <a:solidFill>
              <a:srgbClr val="0F766E"/>
            </a:solidFill>
            <a:prstDash val="solid"/>
          </a:ln>
        </p:spPr>
      </p:sp>
      <p:sp>
        <p:nvSpPr>
          <p:cNvPr id="10" name="Text 8"/>
          <p:cNvSpPr/>
          <p:nvPr/>
        </p:nvSpPr>
        <p:spPr>
          <a:xfrm>
            <a:off x="2039112" y="1280160"/>
            <a:ext cx="1453896" cy="438912"/>
          </a:xfrm>
          <a:prstGeom prst="rect">
            <a:avLst/>
          </a:prstGeom>
          <a:noFill/>
          <a:ln/>
        </p:spPr>
        <p:txBody>
          <a:bodyPr wrap="square" lIns="0" tIns="0" rIns="0" bIns="0" rtlCol="0" anchor="ctr"/>
          <a:lstStyle/>
          <a:p>
            <a:pPr algn="ctr" indent="0" marL="0">
              <a:buNone/>
            </a:pPr>
            <a:r>
              <a:rPr lang="en-US" sz="2000" b="1" dirty="0">
                <a:solidFill>
                  <a:srgbClr val="0F766E"/>
                </a:solidFill>
                <a:latin typeface="Calibri" pitchFamily="34" charset="0"/>
                <a:ea typeface="Calibri" pitchFamily="34" charset="-122"/>
                <a:cs typeface="Calibri" pitchFamily="34" charset="-120"/>
              </a:rPr>
              <a:t>97.4%</a:t>
            </a:r>
            <a:endParaRPr lang="en-US" sz="2000" dirty="0"/>
          </a:p>
        </p:txBody>
      </p:sp>
      <p:sp>
        <p:nvSpPr>
          <p:cNvPr id="11" name="Text 9"/>
          <p:cNvSpPr/>
          <p:nvPr/>
        </p:nvSpPr>
        <p:spPr>
          <a:xfrm>
            <a:off x="2039112" y="1691640"/>
            <a:ext cx="1453896" cy="38404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Risk Level</a:t>
            </a:r>
            <a:endParaRPr lang="en-US" sz="900" dirty="0"/>
          </a:p>
          <a:p>
            <a:pPr algn="ctr" indent="0" marL="0">
              <a:buNone/>
            </a:pPr>
            <a:r>
              <a:rPr lang="en-US" sz="900" dirty="0">
                <a:solidFill>
                  <a:srgbClr val="6B7280"/>
                </a:solidFill>
                <a:latin typeface="Calibri" pitchFamily="34" charset="0"/>
                <a:ea typeface="Calibri" pitchFamily="34" charset="-122"/>
                <a:cs typeface="Calibri" pitchFamily="34" charset="-120"/>
              </a:rPr>
              <a:t>Classification</a:t>
            </a:r>
            <a:endParaRPr lang="en-US" sz="900" dirty="0"/>
          </a:p>
        </p:txBody>
      </p:sp>
      <p:sp>
        <p:nvSpPr>
          <p:cNvPr id="12" name="Shape 10"/>
          <p:cNvSpPr/>
          <p:nvPr/>
        </p:nvSpPr>
        <p:spPr>
          <a:xfrm>
            <a:off x="3703320" y="1234440"/>
            <a:ext cx="1600200" cy="960120"/>
          </a:xfrm>
          <a:prstGeom prst="roundRect">
            <a:avLst>
              <a:gd name="adj" fmla="val 7619"/>
            </a:avLst>
          </a:prstGeom>
          <a:solidFill>
            <a:srgbClr val="E8F5EE"/>
          </a:solidFill>
          <a:ln w="15240">
            <a:solidFill>
              <a:srgbClr val="1D4ED8"/>
            </a:solidFill>
            <a:prstDash val="solid"/>
          </a:ln>
        </p:spPr>
      </p:sp>
      <p:sp>
        <p:nvSpPr>
          <p:cNvPr id="13" name="Text 11"/>
          <p:cNvSpPr/>
          <p:nvPr/>
        </p:nvSpPr>
        <p:spPr>
          <a:xfrm>
            <a:off x="3776472" y="1280160"/>
            <a:ext cx="1453896" cy="438912"/>
          </a:xfrm>
          <a:prstGeom prst="rect">
            <a:avLst/>
          </a:prstGeom>
          <a:noFill/>
          <a:ln/>
        </p:spPr>
        <p:txBody>
          <a:bodyPr wrap="square" lIns="0" tIns="0" rIns="0" bIns="0" rtlCol="0" anchor="ctr"/>
          <a:lstStyle/>
          <a:p>
            <a:pPr algn="ctr" indent="0" marL="0">
              <a:buNone/>
            </a:pPr>
            <a:r>
              <a:rPr lang="en-US" sz="2000" b="1" dirty="0">
                <a:solidFill>
                  <a:srgbClr val="1D4ED8"/>
                </a:solidFill>
                <a:latin typeface="Calibri" pitchFamily="34" charset="0"/>
                <a:ea typeface="Calibri" pitchFamily="34" charset="-122"/>
                <a:cs typeface="Calibri" pitchFamily="34" charset="-120"/>
              </a:rPr>
              <a:t>100%</a:t>
            </a:r>
            <a:endParaRPr lang="en-US" sz="2000" dirty="0"/>
          </a:p>
        </p:txBody>
      </p:sp>
      <p:sp>
        <p:nvSpPr>
          <p:cNvPr id="14" name="Text 12"/>
          <p:cNvSpPr/>
          <p:nvPr/>
        </p:nvSpPr>
        <p:spPr>
          <a:xfrm>
            <a:off x="3776472" y="1691640"/>
            <a:ext cx="1453896" cy="38404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CNN Image</a:t>
            </a:r>
            <a:endParaRPr lang="en-US" sz="900" dirty="0"/>
          </a:p>
          <a:p>
            <a:pPr algn="ctr" indent="0" marL="0">
              <a:buNone/>
            </a:pPr>
            <a:r>
              <a:rPr lang="en-US" sz="900" dirty="0">
                <a:solidFill>
                  <a:srgbClr val="6B7280"/>
                </a:solidFill>
                <a:latin typeface="Calibri" pitchFamily="34" charset="0"/>
                <a:ea typeface="Calibri" pitchFamily="34" charset="-122"/>
                <a:cs typeface="Calibri" pitchFamily="34" charset="-120"/>
              </a:rPr>
              <a:t>Classifier</a:t>
            </a:r>
            <a:endParaRPr lang="en-US" sz="900" dirty="0"/>
          </a:p>
        </p:txBody>
      </p:sp>
      <p:sp>
        <p:nvSpPr>
          <p:cNvPr id="15" name="Shape 13"/>
          <p:cNvSpPr/>
          <p:nvPr/>
        </p:nvSpPr>
        <p:spPr>
          <a:xfrm>
            <a:off x="5440680" y="1234440"/>
            <a:ext cx="1600200" cy="960120"/>
          </a:xfrm>
          <a:prstGeom prst="roundRect">
            <a:avLst>
              <a:gd name="adj" fmla="val 7619"/>
            </a:avLst>
          </a:prstGeom>
          <a:solidFill>
            <a:srgbClr val="E8F5EE"/>
          </a:solidFill>
          <a:ln w="15240">
            <a:solidFill>
              <a:srgbClr val="7C3AED"/>
            </a:solidFill>
            <a:prstDash val="solid"/>
          </a:ln>
        </p:spPr>
      </p:sp>
      <p:sp>
        <p:nvSpPr>
          <p:cNvPr id="16" name="Text 14"/>
          <p:cNvSpPr/>
          <p:nvPr/>
        </p:nvSpPr>
        <p:spPr>
          <a:xfrm>
            <a:off x="5513832" y="1280160"/>
            <a:ext cx="1453896" cy="438912"/>
          </a:xfrm>
          <a:prstGeom prst="rect">
            <a:avLst/>
          </a:prstGeom>
          <a:noFill/>
          <a:ln/>
        </p:spPr>
        <p:txBody>
          <a:bodyPr wrap="square" lIns="0" tIns="0" rIns="0" bIns="0" rtlCol="0" anchor="ctr"/>
          <a:lstStyle/>
          <a:p>
            <a:pPr algn="ctr" indent="0" marL="0">
              <a:buNone/>
            </a:pPr>
            <a:r>
              <a:rPr lang="en-US" sz="2000" b="1" dirty="0">
                <a:solidFill>
                  <a:srgbClr val="7C3AED"/>
                </a:solidFill>
                <a:latin typeface="Calibri" pitchFamily="34" charset="0"/>
                <a:ea typeface="Calibri" pitchFamily="34" charset="-122"/>
                <a:cs typeface="Calibri" pitchFamily="34" charset="-120"/>
              </a:rPr>
              <a:t>8</a:t>
            </a:r>
            <a:endParaRPr lang="en-US" sz="2000" dirty="0"/>
          </a:p>
        </p:txBody>
      </p:sp>
      <p:sp>
        <p:nvSpPr>
          <p:cNvPr id="17" name="Text 15"/>
          <p:cNvSpPr/>
          <p:nvPr/>
        </p:nvSpPr>
        <p:spPr>
          <a:xfrm>
            <a:off x="5513832" y="1691640"/>
            <a:ext cx="1453896" cy="38404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AI Modules</a:t>
            </a:r>
            <a:endParaRPr lang="en-US" sz="900" dirty="0"/>
          </a:p>
          <a:p>
            <a:pPr algn="ctr" indent="0" marL="0">
              <a:buNone/>
            </a:pPr>
            <a:r>
              <a:rPr lang="en-US" sz="900" dirty="0">
                <a:solidFill>
                  <a:srgbClr val="6B7280"/>
                </a:solidFill>
                <a:latin typeface="Calibri" pitchFamily="34" charset="0"/>
                <a:ea typeface="Calibri" pitchFamily="34" charset="-122"/>
                <a:cs typeface="Calibri" pitchFamily="34" charset="-120"/>
              </a:rPr>
              <a:t>Integrated</a:t>
            </a:r>
            <a:endParaRPr lang="en-US" sz="900" dirty="0"/>
          </a:p>
        </p:txBody>
      </p:sp>
      <p:sp>
        <p:nvSpPr>
          <p:cNvPr id="18" name="Shape 16"/>
          <p:cNvSpPr/>
          <p:nvPr/>
        </p:nvSpPr>
        <p:spPr>
          <a:xfrm>
            <a:off x="7178040" y="1234440"/>
            <a:ext cx="1600200" cy="960120"/>
          </a:xfrm>
          <a:prstGeom prst="roundRect">
            <a:avLst>
              <a:gd name="adj" fmla="val 7619"/>
            </a:avLst>
          </a:prstGeom>
          <a:solidFill>
            <a:srgbClr val="E8F5EE"/>
          </a:solidFill>
          <a:ln w="15240">
            <a:solidFill>
              <a:srgbClr val="D97706"/>
            </a:solidFill>
            <a:prstDash val="solid"/>
          </a:ln>
        </p:spPr>
      </p:sp>
      <p:sp>
        <p:nvSpPr>
          <p:cNvPr id="19" name="Text 17"/>
          <p:cNvSpPr/>
          <p:nvPr/>
        </p:nvSpPr>
        <p:spPr>
          <a:xfrm>
            <a:off x="7251192" y="1280160"/>
            <a:ext cx="1453896" cy="438912"/>
          </a:xfrm>
          <a:prstGeom prst="rect">
            <a:avLst/>
          </a:prstGeom>
          <a:noFill/>
          <a:ln/>
        </p:spPr>
        <p:txBody>
          <a:bodyPr wrap="square" lIns="0" tIns="0" rIns="0" bIns="0" rtlCol="0" anchor="ctr"/>
          <a:lstStyle/>
          <a:p>
            <a:pPr algn="ctr" indent="0" marL="0">
              <a:buNone/>
            </a:pPr>
            <a:r>
              <a:rPr lang="en-US" sz="2000" b="1" dirty="0">
                <a:solidFill>
                  <a:srgbClr val="D97706"/>
                </a:solidFill>
                <a:latin typeface="Calibri" pitchFamily="34" charset="0"/>
                <a:ea typeface="Calibri" pitchFamily="34" charset="-122"/>
                <a:cs typeface="Calibri" pitchFamily="34" charset="-120"/>
              </a:rPr>
              <a:t>11</a:t>
            </a:r>
            <a:endParaRPr lang="en-US" sz="2000" dirty="0"/>
          </a:p>
        </p:txBody>
      </p:sp>
      <p:sp>
        <p:nvSpPr>
          <p:cNvPr id="20" name="Text 18"/>
          <p:cNvSpPr/>
          <p:nvPr/>
        </p:nvSpPr>
        <p:spPr>
          <a:xfrm>
            <a:off x="7251192" y="1691640"/>
            <a:ext cx="1453896" cy="384048"/>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Languages</a:t>
            </a:r>
            <a:endParaRPr lang="en-US" sz="900" dirty="0"/>
          </a:p>
          <a:p>
            <a:pPr algn="ctr" indent="0" marL="0">
              <a:buNone/>
            </a:pPr>
            <a:r>
              <a:rPr lang="en-US" sz="900" dirty="0">
                <a:solidFill>
                  <a:srgbClr val="6B7280"/>
                </a:solidFill>
                <a:latin typeface="Calibri" pitchFamily="34" charset="0"/>
                <a:ea typeface="Calibri" pitchFamily="34" charset="-122"/>
                <a:cs typeface="Calibri" pitchFamily="34" charset="-120"/>
              </a:rPr>
              <a:t>Supported</a:t>
            </a:r>
            <a:endParaRPr lang="en-US" sz="900" dirty="0"/>
          </a:p>
        </p:txBody>
      </p:sp>
      <p:sp>
        <p:nvSpPr>
          <p:cNvPr id="21" name="Shape 19"/>
          <p:cNvSpPr/>
          <p:nvPr/>
        </p:nvSpPr>
        <p:spPr>
          <a:xfrm>
            <a:off x="228600" y="2331720"/>
            <a:ext cx="4160520" cy="2423160"/>
          </a:xfrm>
          <a:prstGeom prst="roundRect">
            <a:avLst>
              <a:gd name="adj" fmla="val 3019"/>
            </a:avLst>
          </a:prstGeom>
          <a:solidFill>
            <a:srgbClr val="F3F4F6"/>
          </a:solidFill>
          <a:ln w="15240">
            <a:solidFill>
              <a:srgbClr val="D1D5DB"/>
            </a:solidFill>
            <a:prstDash val="solid"/>
          </a:ln>
        </p:spPr>
      </p:sp>
      <p:sp>
        <p:nvSpPr>
          <p:cNvPr id="22" name="Text 20"/>
          <p:cNvSpPr/>
          <p:nvPr/>
        </p:nvSpPr>
        <p:spPr>
          <a:xfrm>
            <a:off x="411480" y="2423160"/>
            <a:ext cx="3794760" cy="292608"/>
          </a:xfrm>
          <a:prstGeom prst="rect">
            <a:avLst/>
          </a:prstGeom>
          <a:noFill/>
          <a:ln/>
        </p:spPr>
        <p:txBody>
          <a:bodyPr wrap="square" lIns="0" tIns="0" rIns="0" bIns="0"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What makes this project stand out:</a:t>
            </a:r>
            <a:endParaRPr lang="en-US" sz="1200" dirty="0"/>
          </a:p>
        </p:txBody>
      </p:sp>
      <p:sp>
        <p:nvSpPr>
          <p:cNvPr id="23" name="Text 21"/>
          <p:cNvSpPr/>
          <p:nvPr/>
        </p:nvSpPr>
        <p:spPr>
          <a:xfrm>
            <a:off x="411480" y="2743200"/>
            <a:ext cx="3794760" cy="1828800"/>
          </a:xfrm>
          <a:prstGeom prst="rect">
            <a:avLst/>
          </a:prstGeom>
          <a:noFill/>
          <a:ln/>
        </p:spPr>
        <p:txBody>
          <a:bodyPr wrap="square" lIns="0" tIns="0" rIns="0" bIns="0" rtlCol="0" anchor="t"/>
          <a:lstStyle/>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Full multi-modal AI: Text + Image + Voice</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ML + DL + DS + GenAI — all in one system</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Emergency ambulance call + hospital map</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Session history archive — resume any problem</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Offline-first — runs without internet</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Voice I/O for uneducated / rural users</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Day-over-day image comparison for recovery</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Genuinely trained models (not hardcoded)</a:t>
            </a:r>
            <a:endParaRPr lang="en-US" sz="1050" dirty="0"/>
          </a:p>
        </p:txBody>
      </p:sp>
      <p:sp>
        <p:nvSpPr>
          <p:cNvPr id="24" name="Shape 22"/>
          <p:cNvSpPr/>
          <p:nvPr/>
        </p:nvSpPr>
        <p:spPr>
          <a:xfrm>
            <a:off x="4617720" y="2331720"/>
            <a:ext cx="4297680" cy="2423160"/>
          </a:xfrm>
          <a:prstGeom prst="roundRect">
            <a:avLst>
              <a:gd name="adj" fmla="val 3019"/>
            </a:avLst>
          </a:prstGeom>
          <a:solidFill>
            <a:srgbClr val="F5F3FF"/>
          </a:solidFill>
          <a:ln w="15240">
            <a:solidFill>
              <a:srgbClr val="7C3AED"/>
            </a:solidFill>
            <a:prstDash val="solid"/>
          </a:ln>
        </p:spPr>
      </p:sp>
      <p:sp>
        <p:nvSpPr>
          <p:cNvPr id="25" name="Text 23"/>
          <p:cNvSpPr/>
          <p:nvPr/>
        </p:nvSpPr>
        <p:spPr>
          <a:xfrm>
            <a:off x="4800600" y="2423160"/>
            <a:ext cx="3931920" cy="292608"/>
          </a:xfrm>
          <a:prstGeom prst="rect">
            <a:avLst/>
          </a:prstGeom>
          <a:noFill/>
          <a:ln/>
        </p:spPr>
        <p:txBody>
          <a:bodyPr wrap="square" lIns="0" tIns="0" rIns="0" bIns="0" rtlCol="0" anchor="ctr"/>
          <a:lstStyle/>
          <a:p>
            <a:pPr indent="0" marL="0">
              <a:buNone/>
            </a:pPr>
            <a:r>
              <a:rPr lang="en-US" sz="1200" b="1" dirty="0">
                <a:solidFill>
                  <a:srgbClr val="7C3AED"/>
                </a:solidFill>
                <a:latin typeface="Calibri" pitchFamily="34" charset="0"/>
                <a:ea typeface="Calibri" pitchFamily="34" charset="-122"/>
                <a:cs typeface="Calibri" pitchFamily="34" charset="-120"/>
              </a:rPr>
              <a:t>Future Scope:</a:t>
            </a:r>
            <a:endParaRPr lang="en-US" sz="1200" dirty="0"/>
          </a:p>
        </p:txBody>
      </p:sp>
      <p:sp>
        <p:nvSpPr>
          <p:cNvPr id="26" name="Text 24"/>
          <p:cNvSpPr/>
          <p:nvPr/>
        </p:nvSpPr>
        <p:spPr>
          <a:xfrm>
            <a:off x="4800600" y="2743200"/>
            <a:ext cx="3931920" cy="1828800"/>
          </a:xfrm>
          <a:prstGeom prst="rect">
            <a:avLst/>
          </a:prstGeom>
          <a:noFill/>
          <a:ln/>
        </p:spPr>
        <p:txBody>
          <a:bodyPr wrap="square" lIns="0" tIns="0" rIns="0" bIns="0" rtlCol="0" anchor="t"/>
          <a:lstStyle/>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Real clinical datasets (HAM10000, MIMIC)</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Live LLM API (GPT-4 / Claude) for chat</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React Native mobile app (Android/iOS)</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Push notification server for med reminders</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Doctor dashboard with patient monitoring</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Wearable sensor integration (heart rate, temp)</a:t>
            </a:r>
            <a:endParaRPr lang="en-US" sz="1050" dirty="0"/>
          </a:p>
          <a:p>
            <a:pPr indent="0" marL="0">
              <a:spcAft>
                <a:spcPts val="400"/>
              </a:spcAft>
              <a:buNone/>
            </a:pPr>
            <a:r>
              <a:rPr lang="en-US" sz="1050" dirty="0">
                <a:solidFill>
                  <a:srgbClr val="1A1A2E"/>
                </a:solidFill>
                <a:latin typeface="Calibri" pitchFamily="34" charset="0"/>
                <a:ea typeface="Calibri" pitchFamily="34" charset="-122"/>
                <a:cs typeface="Calibri" pitchFamily="34" charset="-120"/>
              </a:rPr>
              <a:t>🌍 Expand to 22 Indian official languages</a:t>
            </a:r>
            <a:endParaRPr lang="en-US" sz="1050" dirty="0"/>
          </a:p>
        </p:txBody>
      </p:sp>
      <p:sp>
        <p:nvSpPr>
          <p:cNvPr id="27" name="Shape 25"/>
          <p:cNvSpPr/>
          <p:nvPr/>
        </p:nvSpPr>
        <p:spPr>
          <a:xfrm>
            <a:off x="0" y="4828032"/>
            <a:ext cx="9144000" cy="320040"/>
          </a:xfrm>
          <a:prstGeom prst="rect">
            <a:avLst/>
          </a:prstGeom>
          <a:solidFill>
            <a:srgbClr val="F3F4F6"/>
          </a:solidFill>
          <a:ln w="12700">
            <a:solidFill>
              <a:srgbClr val="F3F4F6"/>
            </a:solidFill>
            <a:prstDash val="solid"/>
          </a:ln>
        </p:spPr>
      </p:sp>
      <p:sp>
        <p:nvSpPr>
          <p:cNvPr id="28" name="Text 26"/>
          <p:cNvSpPr/>
          <p:nvPr/>
        </p:nvSpPr>
        <p:spPr>
          <a:xfrm>
            <a:off x="365760" y="4855464"/>
            <a:ext cx="8412480" cy="256032"/>
          </a:xfrm>
          <a:prstGeom prst="rect">
            <a:avLst/>
          </a:prstGeom>
          <a:noFill/>
          <a:ln/>
        </p:spPr>
        <p:txBody>
          <a:bodyPr wrap="square" lIns="0" tIns="0" rIns="0" bIns="0"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 This system is for health awareness and monitoring only — not a medical diagnosis tool. Always consult a qualified doctor for medical concerns.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2026-08-12T00:45:52Z</dcterms:created>
  <dcterms:modified xsi:type="dcterms:W3CDTF">2026-08-12T00:45:52Z</dcterms:modified>
</cp:coreProperties>
</file>